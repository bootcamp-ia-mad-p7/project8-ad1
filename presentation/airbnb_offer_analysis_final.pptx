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52c2de99dd44a4" /><Relationship Type="http://schemas.openxmlformats.org/officeDocument/2006/relationships/extended-properties" Target="/docProps/app.xml" Id="R860a06ffb8e84da3" /><Relationship Type="http://schemas.openxmlformats.org/officeDocument/2006/relationships/officeDocument" Target="/ppt/presentation.xml" Id="R5566ef6498214431" /></Relationships>
</file>

<file path=ppt/presentation.xml><?xml version="1.0" encoding="utf-8"?>
<p:presentation xmlns:p="http://schemas.openxmlformats.org/presentationml/2006/main">
  <p:sldMasterIdLst>
    <p:sldMasterId xmlns:r="http://schemas.openxmlformats.org/officeDocument/2006/relationships" id="2147483648" r:id="Re0284c05008a40b5"/>
  </p:sldMasterIdLst>
  <p:notesMasterIdLst>
    <p:notesMasterId xmlns:r="http://schemas.openxmlformats.org/officeDocument/2006/relationships" r:id="R7a352dd8cfdf4d03"/>
  </p:notesMasterIdLst>
  <p:sldIdLst>
    <p:sldId xmlns:r="http://schemas.openxmlformats.org/officeDocument/2006/relationships" id="256" r:id="Rd351f37b6c7c4429"/>
    <p:sldId xmlns:r="http://schemas.openxmlformats.org/officeDocument/2006/relationships" id="257" r:id="Rb1d537aa2dab4b89"/>
    <p:sldId xmlns:r="http://schemas.openxmlformats.org/officeDocument/2006/relationships" id="258" r:id="R64d0048cbb4748b6"/>
    <p:sldId xmlns:r="http://schemas.openxmlformats.org/officeDocument/2006/relationships" id="259" r:id="Rfb0eb3db3e514d7d"/>
    <p:sldId xmlns:r="http://schemas.openxmlformats.org/officeDocument/2006/relationships" id="260" r:id="Rfad967dda34a4d97"/>
    <p:sldId xmlns:r="http://schemas.openxmlformats.org/officeDocument/2006/relationships" id="261" r:id="R875b1cb2cf514885"/>
    <p:sldId xmlns:r="http://schemas.openxmlformats.org/officeDocument/2006/relationships" id="262" r:id="Rb2a71342471b4414"/>
    <p:sldId xmlns:r="http://schemas.openxmlformats.org/officeDocument/2006/relationships" id="263" r:id="R8f0acea85ebd4439"/>
    <p:sldId xmlns:r="http://schemas.openxmlformats.org/officeDocument/2006/relationships" id="264" r:id="R44d2e121fe794f2b"/>
    <p:sldId xmlns:r="http://schemas.openxmlformats.org/officeDocument/2006/relationships" id="265" r:id="R8e258fae915143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32b115d22f4ace" /><Relationship Type="http://schemas.openxmlformats.org/officeDocument/2006/relationships/slideMaster" Target="/ppt/slideMasters/slideMaster1.xml" Id="Re0284c05008a40b5" /><Relationship Type="http://schemas.openxmlformats.org/officeDocument/2006/relationships/notesMaster" Target="/ppt/notesMasters/notesMaster1.xml" Id="R7a352dd8cfdf4d03" /><Relationship Type="http://schemas.openxmlformats.org/officeDocument/2006/relationships/presProps" Target="/ppt/presProps.xml" Id="Rf77e34a6985f46a2" /><Relationship Type="http://schemas.openxmlformats.org/officeDocument/2006/relationships/tableStyles" Target="/ppt/tableStyles.xml" Id="Rf280b4ae4824405b" /><Relationship Type="http://schemas.openxmlformats.org/officeDocument/2006/relationships/slide" Target="/ppt/slides/slide1.xml" Id="Rd351f37b6c7c4429" /><Relationship Type="http://schemas.openxmlformats.org/officeDocument/2006/relationships/slide" Target="/ppt/slides/slide2.xml" Id="Rb1d537aa2dab4b89" /><Relationship Type="http://schemas.openxmlformats.org/officeDocument/2006/relationships/slide" Target="/ppt/slides/slide3.xml" Id="R64d0048cbb4748b6" /><Relationship Type="http://schemas.openxmlformats.org/officeDocument/2006/relationships/slide" Target="/ppt/slides/slide4.xml" Id="Rfb0eb3db3e514d7d" /><Relationship Type="http://schemas.openxmlformats.org/officeDocument/2006/relationships/slide" Target="/ppt/slides/slide5.xml" Id="Rfad967dda34a4d97" /><Relationship Type="http://schemas.openxmlformats.org/officeDocument/2006/relationships/slide" Target="/ppt/slides/slide6.xml" Id="R875b1cb2cf514885" /><Relationship Type="http://schemas.openxmlformats.org/officeDocument/2006/relationships/slide" Target="/ppt/slides/slide7.xml" Id="Rb2a71342471b4414" /><Relationship Type="http://schemas.openxmlformats.org/officeDocument/2006/relationships/slide" Target="/ppt/slides/slide8.xml" Id="R8f0acea85ebd4439" /><Relationship Type="http://schemas.openxmlformats.org/officeDocument/2006/relationships/slide" Target="/ppt/slides/slide9.xml" Id="R44d2e121fe794f2b" /><Relationship Type="http://schemas.openxmlformats.org/officeDocument/2006/relationships/slide" Target="/ppt/slides/slide10.xml" Id="R8e258fae915143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78fb7a21fe48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633865b66b498d" /><Relationship Type="http://schemas.openxmlformats.org/officeDocument/2006/relationships/notesMaster" Target="/ppt/notesMasters/notesMaster1.xml" Id="Rbf608af128794b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f019179fc94391" /><Relationship Type="http://schemas.openxmlformats.org/officeDocument/2006/relationships/notesMaster" Target="/ppt/notesMasters/notesMaster1.xml" Id="Re82ae6d1c7d942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9e1361534c4377" /><Relationship Type="http://schemas.openxmlformats.org/officeDocument/2006/relationships/notesMaster" Target="/ppt/notesMasters/notesMaster1.xml" Id="R7cbbf545ab9b4d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40ace4915447c2" /><Relationship Type="http://schemas.openxmlformats.org/officeDocument/2006/relationships/notesMaster" Target="/ppt/notesMasters/notesMaster1.xml" Id="Re23a3e09b92b44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f56dd644f1457e" /><Relationship Type="http://schemas.openxmlformats.org/officeDocument/2006/relationships/notesMaster" Target="/ppt/notesMasters/notesMaster1.xml" Id="Rdfb1ac24dd0a42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6ddb7ce5c94634" /><Relationship Type="http://schemas.openxmlformats.org/officeDocument/2006/relationships/notesMaster" Target="/ppt/notesMasters/notesMaster1.xml" Id="R98650de90b7943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6a295124f048c5" /><Relationship Type="http://schemas.openxmlformats.org/officeDocument/2006/relationships/notesMaster" Target="/ppt/notesMasters/notesMaster1.xml" Id="R1000dad643d747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700a41222d435d" /><Relationship Type="http://schemas.openxmlformats.org/officeDocument/2006/relationships/notesMaster" Target="/ppt/notesMasters/notesMaster1.xml" Id="R1f2de3dd4def43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9ef2cf40a24066" /><Relationship Type="http://schemas.openxmlformats.org/officeDocument/2006/relationships/notesMaster" Target="/ppt/notesMasters/notesMaster1.xml" Id="Re8d691cf572c47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2c97a9c32f48ec" /><Relationship Type="http://schemas.openxmlformats.org/officeDocument/2006/relationships/notesMaster" Target="/ppt/notesMasters/notesMaster1.xml" Id="R19f193d2b20447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Presento un análisis exploratorio orientado a dos decisiones: localizar segmentos de oferta que merecen investigación y priorizar registros que requieren revisión de calidad. El alcance es diagnóstico, no mide reservas ni rentabilidad.</a:t>
            </a:r>
          </a:p>
          <a:p xmlns:a="http://schemas.openxmlformats.org/drawingml/2006/main">
            <a:r>
              <a:t/>
            </a:r>
          </a:p>
          <a:p xmlns:a="http://schemas.openxmlformats.org/drawingml/2006/main">
            <a:r>
              <a:t>Fuentes: README.md; notebooks/03_exploratory_analysis.ipynb; dashboard/data/airbnb_dashboard.csv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primera pregunta ayuda a enfocar análisis comercial en combinaciones concretas. La segunda convierte observaciones de calidad en una cola de revisión. Las 193 señales son 50 precios no positivos, 20 estancias mínimas de 1.000 noches o más y 123 inconsistencias entre reseñas y tasa mensual; pueden coexistir reglas sobre un registro.</a:t>
            </a:r>
          </a:p>
          <a:p xmlns:a="http://schemas.openxmlformats.org/drawingml/2006/main">
            <a:r>
              <a:t/>
            </a:r>
          </a:p>
          <a:p xmlns:a="http://schemas.openxmlformats.org/drawingml/2006/main">
            <a:r>
              <a:t>Fuentes: dashboard/app.py; dashboard/data/airbnb_dashboard.csv; notebooks/03_exploratory_analysis.ipynb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seis archivos se unificaron en un solo DataFrame y se añadió la ciudad de origen. Esto permite aplicar el mismo cálculo a todas las ciudades sin perder trazabilidad. Los precios no se comparan directamente entre ciudades porque las monedas no están documentadas en la fuente.</a:t>
            </a:r>
          </a:p>
          <a:p xmlns:a="http://schemas.openxmlformats.org/drawingml/2006/main">
            <a:r>
              <a:t/>
            </a:r>
          </a:p>
          <a:p xmlns:a="http://schemas.openxmlformats.org/drawingml/2006/main">
            <a:r>
              <a:t>Fuentes: data/raw/*.csv; notebooks/01_data_inventory.ipynb; notebooks/03_exploratory_analysis.ipynb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proceso empieza entendiendo la estructura, sigue con controles explícitos, después analiza variables y relaciones, contrasta dos hipótesis y termina en un dashboard reproducible. Los datos originales se mantienen sin cambios. Las observaciones no se eliminaron automáticamente.</a:t>
            </a:r>
          </a:p>
          <a:p xmlns:a="http://schemas.openxmlformats.org/drawingml/2006/main">
            <a:r>
              <a:t/>
            </a:r>
          </a:p>
          <a:p xmlns:a="http://schemas.openxmlformats.org/drawingml/2006/main">
            <a:r>
              <a:t>Fuentes: notebooks/01_data_inventory.ipynb; notebooks/02_data_quality.ipynb; notebooks/03_exploratory_analysis.ipynb; notebooks/04_statistical_analysis.ipynb; scripts/validate_specs.py;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composición cambia por ciudad, aunque la vivienda completa es la categoría mayoritaria en todas. Milán destaca por el peso de vivienda completa. Tokio tiene la mayor proporción de habitaciones compartidas. La ausencia de hotel significa que esa categoría no figura en estos archivos; no demuestra que no exista oferta hotelera real.</a:t>
            </a:r>
          </a:p>
          <a:p xmlns:a="http://schemas.openxmlformats.org/drawingml/2006/main">
            <a:r>
              <a:t/>
            </a:r>
          </a:p>
          <a:p xmlns:a="http://schemas.openxmlformats.org/drawingml/2006/main">
            <a:r>
              <a:t>Fuentes: notebooks/03_exploratory_analysis.ipynb, tabla city_room_type_summary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regla seleccionó 30 segmentos. Estos cuatro ejemplos de vivienda completa combinan volumen, un precio mediano inferior al baseline de su categoría y una actividad aproximada superior. El índice 91,67 significa que la mediana del segmento equivale al 91,67% de la mediana del mismo tipo en la ciudad. La actividad proviene de reviews_per_month y no equivale a ocupación o reservas.</a:t>
            </a:r>
          </a:p>
          <a:p xmlns:a="http://schemas.openxmlformats.org/drawingml/2006/main">
            <a:r>
              <a:t/>
            </a:r>
          </a:p>
          <a:p xmlns:a="http://schemas.openxmlformats.org/drawingml/2006/main">
            <a:r>
              <a:t>Fuentes: notebooks/03_exploratory_analysis.ipynb, tabla segment_candidates; dashboard/data/airbnb_dashboard.csv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aplicó Mann-Whitney por ciudad y se ajustaron los p-valores con Holm. En las seis ciudades se rechaza la hipótesis nula y el signo del rango biserial es negativo. La asociación es coherente, pero no demuestra causalidad: las reseñas al mes son solo una aproximación de actividad.</a:t>
            </a:r>
          </a:p>
          <a:p xmlns:a="http://schemas.openxmlformats.org/drawingml/2006/main">
            <a:r>
              <a:t/>
            </a:r>
          </a:p>
          <a:p xmlns:a="http://schemas.openxmlformats.org/drawingml/2006/main">
            <a:r>
              <a:t>Fuentes: notebooks/04_statistical_analysis.ipynb; scipy==1.18.1 en requirements.txt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dashboard permite filtrar y localizar cada registro afectado. La estancia mínima máxima observada es 1.125 noches. Estos valores se consideran sospechosos o poco operativos, no errores confirmados. La acción propuesta es validar la fuente antes de corregir o excluir.</a:t>
            </a:r>
          </a:p>
          <a:p xmlns:a="http://schemas.openxmlformats.org/drawingml/2006/main">
            <a:r>
              <a:t/>
            </a:r>
          </a:p>
          <a:p xmlns:a="http://schemas.openxmlformats.org/drawingml/2006/main">
            <a:r>
              <a:t>Fuentes: notebooks/02_data_quality.ipynb; notebooks/03_exploratory_analysis.ipynb; dashboard/data/airbnb_dashboard.csv; https://project8-airbnb-dashboard.onrender.com/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la demo comienzo por la página de oferta, filtro una ciudad y muestro cómo cambian los indicadores, el gráfico y la tabla. Después abro calidad, selecciono una regla y localizo registros. Finalmente pruebo una combinación sin datos para mostrar el estado vacío controlado. El servicio corre con Dash y Gunicorn dentro de Docker y está desplegado en Render.</a:t>
            </a:r>
          </a:p>
          <a:p xmlns:a="http://schemas.openxmlformats.org/drawingml/2006/main">
            <a:r>
              <a:t/>
            </a:r>
          </a:p>
          <a:p xmlns:a="http://schemas.openxmlformats.org/drawingml/2006/main">
            <a:r>
              <a:t>Fuentes: dashboard/app.py; Dockerfile; render.yaml; docs/dashboard-demo.md; https://project8-airbnb-dashboard.onrender.com/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entregable actual es útil como sistema de priorización y auditoría inicial. No debe usarse todavía para fijar precios, estimar demanda, decidir inversión o afirmar rentabilidad. Las tarjetas 24, 25 y 26 quedan documentadas como ampliaciones, condicionadas a un objetivo de modelado claro y mejores datos de negocio.</a:t>
            </a:r>
          </a:p>
          <a:p xmlns:a="http://schemas.openxmlformats.org/drawingml/2006/main">
            <a:r>
              <a:t/>
            </a:r>
          </a:p>
          <a:p xmlns:a="http://schemas.openxmlformats.org/drawingml/2006/main">
            <a:r>
              <a:t>Fuentes: README.md; specs/006-project-delivery/spec.md; GitHub issues #24, #25 y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ff529ca6fe48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f957b68671409a" /><Relationship Type="http://schemas.openxmlformats.org/officeDocument/2006/relationships/slideLayout" Target="/ppt/slideLayouts/slideLayout1.xml" Id="Rc4089423712e4b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089423712e4b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7b75312785492b" /><Relationship Type="http://schemas.openxmlformats.org/officeDocument/2006/relationships/notesSlide" Target="/ppt/notesSlides/notesSlide1.xml" Id="R7f0905430ca646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15d5a56a6e4ec1" /><Relationship Type="http://schemas.openxmlformats.org/officeDocument/2006/relationships/notesSlide" Target="/ppt/notesSlides/notesSlide2.xml" Id="R8053c655a8be44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66f2b0d6c046a8" /><Relationship Type="http://schemas.openxmlformats.org/officeDocument/2006/relationships/chart" Target="/ppt/slides/charts/chart1.xml" Id="R59b02fc29b304640" /><Relationship Type="http://schemas.openxmlformats.org/officeDocument/2006/relationships/notesSlide" Target="/ppt/notesSlides/notesSlide3.xml" Id="Ra11e2302b3c344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b5cc302d1840ac" /><Relationship Type="http://schemas.openxmlformats.org/officeDocument/2006/relationships/notesSlide" Target="/ppt/notesSlides/notesSlide4.xml" Id="R47534b031b6d43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bc440f30774cda" /><Relationship Type="http://schemas.openxmlformats.org/officeDocument/2006/relationships/chart" Target="/ppt/slides/charts/chart2.xml" Id="Ree874b2a89aa4d36" /><Relationship Type="http://schemas.openxmlformats.org/officeDocument/2006/relationships/notesSlide" Target="/ppt/notesSlides/notesSlide5.xml" Id="Re7f1a02433c74c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6811159be343ce" /><Relationship Type="http://schemas.openxmlformats.org/officeDocument/2006/relationships/notesSlide" Target="/ppt/notesSlides/notesSlide6.xml" Id="R4a30d7b4689f4c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5ac39c9404142a7" /><Relationship Type="http://schemas.openxmlformats.org/officeDocument/2006/relationships/chart" Target="/ppt/slides/charts/chart3.xml" Id="Rac7fb909c8d94244" /><Relationship Type="http://schemas.openxmlformats.org/officeDocument/2006/relationships/notesSlide" Target="/ppt/notesSlides/notesSlide7.xml" Id="R732f2021d8d043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272e85b36f4d27" /><Relationship Type="http://schemas.openxmlformats.org/officeDocument/2006/relationships/image" Target="/ppt/media/image.jpeg" Id="R31aac872c7bd41ac" /><Relationship Type="http://schemas.openxmlformats.org/officeDocument/2006/relationships/notesSlide" Target="/ppt/notesSlides/notesSlide8.xml" Id="Rd317a2bcd1ab48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80c7dad84b4758" /><Relationship Type="http://schemas.openxmlformats.org/officeDocument/2006/relationships/image" Target="/ppt/media/image2.jpeg" Id="Rc53655230b1e4653" /><Relationship Type="http://schemas.openxmlformats.org/officeDocument/2006/relationships/hyperlink" Target="https://project8-airbnb-dashboard.onrender.com/" TargetMode="External" Id="R97dbc3b072e94753" /><Relationship Type="http://schemas.openxmlformats.org/officeDocument/2006/relationships/notesSlide" Target="/ppt/notesSlides/notesSlide9.xml" Id="Rfa0e01fd4f4640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03051b0d4f4d93" /><Relationship Type="http://schemas.openxmlformats.org/officeDocument/2006/relationships/notesSlide" Target="/ppt/notesSlides/notesSlide10.xml" Id="R14403deec5fe424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Anuncios</c:v>
          </c:tx>
          <c:spPr>
            <a:solidFill xmlns:a="http://schemas.openxmlformats.org/drawingml/2006/main">
              <a:srgbClr val="FF385C"/>
            </a:solidFill>
          </c:spPr>
          <c:cat>
            <c:strRef>
              <c:f>'Chart Data'!$A$2:$A$7</c:f>
              <c:strCache>
                <c:ptCount val="6"/>
                <c:pt idx="0">
                  <c:v>London</c:v>
                </c:pt>
                <c:pt idx="1">
                  <c:v>New York</c:v>
                </c:pt>
                <c:pt idx="2">
                  <c:v>Sydney</c:v>
                </c:pt>
                <c:pt idx="3">
                  <c:v>Madrid</c:v>
                </c:pt>
                <c:pt idx="4">
                  <c:v>Milan</c:v>
                </c:pt>
                <c:pt idx="5">
                  <c:v>Tokyo</c:v>
                </c:pt>
              </c:strCache>
            </c:strRef>
          </c:cat>
          <c:val>
            <c:numRef>
              <c:f>'Chart Data'!$B$2:$B$7</c:f>
              <c:numCache>
                <c:formatCode>General</c:formatCode>
                <c:ptCount val="6"/>
                <c:pt idx="0">
                  <c:v>85068</c:v>
                </c:pt>
                <c:pt idx="1">
                  <c:v>48895</c:v>
                </c:pt>
                <c:pt idx="2">
                  <c:v>36662</c:v>
                </c:pt>
                <c:pt idx="3">
                  <c:v>19618</c:v>
                </c:pt>
                <c:pt idx="4">
                  <c:v>18322</c:v>
                </c:pt>
                <c:pt idx="5">
                  <c:v>11466</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222222"/>
                  </a:solidFill>
                  <a:latin typeface="Arial"/>
                  <a:ea typeface="Arial"/>
                  <a:cs typeface="Arial"/>
                </a:defRPr>
              </a:pPr>
            </a:p>
          </c:txPr>
          <c:dLblPos val="outEnd"/>
          <c:showLegendKey val="0"/>
          <c:showVal val="1"/>
          <c:showCatName val="0"/>
          <c:showSerName val="0"/>
          <c:showPercent val="0"/>
          <c:showBubbleSize val="0"/>
          <c:showLeaderLines val="0"/>
        </c:dLbls>
        <c:gapWidth val="5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6E6E6"/>
            </a:solidFill>
            <a:prstDash val="solid"/>
          </a:ln>
        </c:spPr>
        <c:txPr>
          <a:bodyPr xmlns:a="http://schemas.openxmlformats.org/drawingml/2006/main" anchorCtr="1"/>
          <a:lstStyle xmlns:a="http://schemas.openxmlformats.org/drawingml/2006/main"/>
          <a:p xmlns:a="http://schemas.openxmlformats.org/drawingml/2006/main">
            <a:pPr>
              <a:defRPr sz="1050">
                <a:solidFill>
                  <a:srgbClr val="6A6A6A"/>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percentStacked"/>
        <c:varyColors val="0"/>
        <c:ser>
          <c:idx val="0"/>
          <c:order val="0"/>
          <c:tx>
            <c:v>Vivienda completa</c:v>
          </c:tx>
          <c:spPr>
            <a:solidFill xmlns:a="http://schemas.openxmlformats.org/drawingml/2006/main">
              <a:srgbClr val="FF385C"/>
            </a:solidFill>
          </c:spPr>
          <c:cat>
            <c:strRef>
              <c:f>'Chart Data'!$A$2:$A$7</c:f>
              <c:strCache>
                <c:ptCount val="6"/>
                <c:pt idx="0">
                  <c:v>London</c:v>
                </c:pt>
                <c:pt idx="1">
                  <c:v>Madrid</c:v>
                </c:pt>
                <c:pt idx="2">
                  <c:v>Milan</c:v>
                </c:pt>
                <c:pt idx="3">
                  <c:v>New York</c:v>
                </c:pt>
                <c:pt idx="4">
                  <c:v>Sydney</c:v>
                </c:pt>
                <c:pt idx="5">
                  <c:v>Tokyo</c:v>
                </c:pt>
              </c:strCache>
            </c:strRef>
          </c:cat>
          <c:val>
            <c:numRef>
              <c:f>'Chart Data'!$B$2:$B$7</c:f>
              <c:numCache>
                <c:formatCode>General</c:formatCode>
                <c:ptCount val="6"/>
                <c:pt idx="0">
                  <c:v>55.77</c:v>
                </c:pt>
                <c:pt idx="1">
                  <c:v>57.67</c:v>
                </c:pt>
                <c:pt idx="2">
                  <c:v>74.25</c:v>
                </c:pt>
                <c:pt idx="3">
                  <c:v>51.97</c:v>
                </c:pt>
                <c:pt idx="4">
                  <c:v>62.51</c:v>
                </c:pt>
                <c:pt idx="5">
                  <c:v>65.09</c:v>
                </c:pt>
              </c:numCache>
            </c:numRef>
          </c:val>
        </c:ser>
        <c:ser>
          <c:idx val="1"/>
          <c:order val="1"/>
          <c:tx>
            <c:v>Habitación privada</c:v>
          </c:tx>
          <c:spPr>
            <a:solidFill xmlns:a="http://schemas.openxmlformats.org/drawingml/2006/main">
              <a:srgbClr val="7B61A8"/>
            </a:solidFill>
          </c:spPr>
          <c:cat>
            <c:strRef>
              <c:f>'Chart Data'!$C$2:$C$7</c:f>
              <c:strCache>
                <c:ptCount val="6"/>
                <c:pt idx="0">
                  <c:v>London</c:v>
                </c:pt>
                <c:pt idx="1">
                  <c:v>Madrid</c:v>
                </c:pt>
                <c:pt idx="2">
                  <c:v>Milan</c:v>
                </c:pt>
                <c:pt idx="3">
                  <c:v>New York</c:v>
                </c:pt>
                <c:pt idx="4">
                  <c:v>Sydney</c:v>
                </c:pt>
                <c:pt idx="5">
                  <c:v>Tokyo</c:v>
                </c:pt>
              </c:strCache>
            </c:strRef>
          </c:cat>
          <c:val>
            <c:numRef>
              <c:f>'Chart Data'!$D$2:$D$7</c:f>
              <c:numCache>
                <c:formatCode>General</c:formatCode>
                <c:ptCount val="6"/>
                <c:pt idx="0">
                  <c:v>42.18</c:v>
                </c:pt>
                <c:pt idx="1">
                  <c:v>39.81</c:v>
                </c:pt>
                <c:pt idx="2">
                  <c:v>23.88</c:v>
                </c:pt>
                <c:pt idx="3">
                  <c:v>45.66</c:v>
                </c:pt>
                <c:pt idx="4">
                  <c:v>35.77</c:v>
                </c:pt>
                <c:pt idx="5">
                  <c:v>26.2</c:v>
                </c:pt>
              </c:numCache>
            </c:numRef>
          </c:val>
        </c:ser>
        <c:ser>
          <c:idx val="2"/>
          <c:order val="2"/>
          <c:tx>
            <c:v>Habitación compartida</c:v>
          </c:tx>
          <c:spPr>
            <a:solidFill xmlns:a="http://schemas.openxmlformats.org/drawingml/2006/main">
              <a:srgbClr val="00A699"/>
            </a:solidFill>
          </c:spPr>
          <c:cat>
            <c:strRef>
              <c:f>'Chart Data'!$E$2:$E$7</c:f>
              <c:strCache>
                <c:ptCount val="6"/>
                <c:pt idx="0">
                  <c:v>London</c:v>
                </c:pt>
                <c:pt idx="1">
                  <c:v>Madrid</c:v>
                </c:pt>
                <c:pt idx="2">
                  <c:v>Milan</c:v>
                </c:pt>
                <c:pt idx="3">
                  <c:v>New York</c:v>
                </c:pt>
                <c:pt idx="4">
                  <c:v>Sydney</c:v>
                </c:pt>
                <c:pt idx="5">
                  <c:v>Tokyo</c:v>
                </c:pt>
              </c:strCache>
            </c:strRef>
          </c:cat>
          <c:val>
            <c:numRef>
              <c:f>'Chart Data'!$F$2:$F$7</c:f>
              <c:numCache>
                <c:formatCode>General</c:formatCode>
                <c:ptCount val="6"/>
                <c:pt idx="0">
                  <c:v>0.74</c:v>
                </c:pt>
                <c:pt idx="1">
                  <c:v>1.68</c:v>
                </c:pt>
                <c:pt idx="2">
                  <c:v>1.46</c:v>
                </c:pt>
                <c:pt idx="3">
                  <c:v>2.37</c:v>
                </c:pt>
                <c:pt idx="4">
                  <c:v>1.72</c:v>
                </c:pt>
                <c:pt idx="5">
                  <c:v>8.71</c:v>
                </c:pt>
              </c:numCache>
            </c:numRef>
          </c:val>
        </c:ser>
        <c:ser>
          <c:idx val="3"/>
          <c:order val="3"/>
          <c:tx>
            <c:v>Habitación de hotel</c:v>
          </c:tx>
          <c:spPr>
            <a:solidFill xmlns:a="http://schemas.openxmlformats.org/drawingml/2006/main">
              <a:srgbClr val="F59E0B"/>
            </a:solidFill>
          </c:spPr>
          <c:cat>
            <c:strRef>
              <c:f>'Chart Data'!$G$2:$G$7</c:f>
              <c:strCache>
                <c:ptCount val="6"/>
                <c:pt idx="0">
                  <c:v>London</c:v>
                </c:pt>
                <c:pt idx="1">
                  <c:v>Madrid</c:v>
                </c:pt>
                <c:pt idx="2">
                  <c:v>Milan</c:v>
                </c:pt>
                <c:pt idx="3">
                  <c:v>New York</c:v>
                </c:pt>
                <c:pt idx="4">
                  <c:v>Sydney</c:v>
                </c:pt>
                <c:pt idx="5">
                  <c:v>Tokyo</c:v>
                </c:pt>
              </c:strCache>
            </c:strRef>
          </c:cat>
          <c:val>
            <c:numRef>
              <c:f>'Chart Data'!$H$2:$H$7</c:f>
              <c:numCache>
                <c:formatCode>General</c:formatCode>
                <c:ptCount val="6"/>
                <c:pt idx="0">
                  <c:v>1.31</c:v>
                </c:pt>
                <c:pt idx="1">
                  <c:v>0.85</c:v>
                </c:pt>
                <c:pt idx="2">
                  <c:v>0.4</c:v>
                </c:pt>
                <c:pt idx="3">
                  <c:v>0</c:v>
                </c:pt>
                <c:pt idx="4">
                  <c:v>0</c:v>
                </c:pt>
                <c:pt idx="5">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38"/>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6E6E6"/>
            </a:solidFill>
            <a:prstDash val="solid"/>
          </a:ln>
        </c:spPr>
        <c:txPr>
          <a:bodyPr xmlns:a="http://schemas.openxmlformats.org/drawingml/2006/main" anchorCtr="1"/>
          <a:lstStyle xmlns:a="http://schemas.openxmlformats.org/drawingml/2006/main"/>
          <a:p xmlns:a="http://schemas.openxmlformats.org/drawingml/2006/main">
            <a:pPr>
              <a:defRPr sz="975">
                <a:solidFill>
                  <a:srgbClr val="6A6A6A"/>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6A6A6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8 noches o menos</c:v>
          </c:tx>
          <c:spPr>
            <a:solidFill xmlns:a="http://schemas.openxmlformats.org/drawingml/2006/main">
              <a:srgbClr val="FF385C"/>
            </a:solidFill>
          </c:spPr>
          <c:cat>
            <c:strRef>
              <c:f>'Chart Data'!$A$2:$A$7</c:f>
              <c:strCache>
                <c:ptCount val="6"/>
                <c:pt idx="0">
                  <c:v>London</c:v>
                </c:pt>
                <c:pt idx="1">
                  <c:v>Madrid</c:v>
                </c:pt>
                <c:pt idx="2">
                  <c:v>Milan</c:v>
                </c:pt>
                <c:pt idx="3">
                  <c:v>New York</c:v>
                </c:pt>
                <c:pt idx="4">
                  <c:v>Sydney</c:v>
                </c:pt>
                <c:pt idx="5">
                  <c:v>Tokyo</c:v>
                </c:pt>
              </c:strCache>
            </c:strRef>
          </c:cat>
          <c:val>
            <c:numRef>
              <c:f>'Chart Data'!$B$2:$B$7</c:f>
              <c:numCache>
                <c:formatCode>0.0</c:formatCode>
                <c:ptCount val="6"/>
                <c:pt idx="0">
                  <c:v>0.43</c:v>
                </c:pt>
                <c:pt idx="1">
                  <c:v>0.27</c:v>
                </c:pt>
                <c:pt idx="2">
                  <c:v>0.14</c:v>
                </c:pt>
                <c:pt idx="3">
                  <c:v>0.51</c:v>
                </c:pt>
                <c:pt idx="4">
                  <c:v>0.18</c:v>
                </c:pt>
                <c:pt idx="5">
                  <c:v>1.83</c:v>
                </c:pt>
              </c:numCache>
            </c:numRef>
          </c:val>
        </c:ser>
        <c:ser>
          <c:idx val="1"/>
          <c:order val="1"/>
          <c:tx>
            <c:v>Más de 8 noches</c:v>
          </c:tx>
          <c:spPr>
            <a:solidFill xmlns:a="http://schemas.openxmlformats.org/drawingml/2006/main">
              <a:srgbClr val="00A699"/>
            </a:solidFill>
          </c:spPr>
          <c:cat>
            <c:strRef>
              <c:f>'Chart Data'!$C$2:$C$7</c:f>
              <c:strCache>
                <c:ptCount val="6"/>
                <c:pt idx="0">
                  <c:v>London</c:v>
                </c:pt>
                <c:pt idx="1">
                  <c:v>Madrid</c:v>
                </c:pt>
                <c:pt idx="2">
                  <c:v>Milan</c:v>
                </c:pt>
                <c:pt idx="3">
                  <c:v>New York</c:v>
                </c:pt>
                <c:pt idx="4">
                  <c:v>Sydney</c:v>
                </c:pt>
                <c:pt idx="5">
                  <c:v>Tokyo</c:v>
                </c:pt>
              </c:strCache>
            </c:strRef>
          </c:cat>
          <c:val>
            <c:numRef>
              <c:f>'Chart Data'!$D$2:$D$7</c:f>
              <c:numCache>
                <c:formatCode>0.0</c:formatCode>
                <c:ptCount val="6"/>
                <c:pt idx="0">
                  <c:v>0.07</c:v>
                </c:pt>
                <c:pt idx="1">
                  <c:v>0.04</c:v>
                </c:pt>
                <c:pt idx="2">
                  <c:v>0.01</c:v>
                </c:pt>
                <c:pt idx="3">
                  <c:v>0.09</c:v>
                </c:pt>
                <c:pt idx="4">
                  <c:v>0</c:v>
                </c:pt>
                <c:pt idx="5">
                  <c:v>0.43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4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6E6E6"/>
            </a:solidFill>
            <a:prstDash val="solid"/>
          </a:ln>
        </c:spPr>
        <c:txPr>
          <a:bodyPr xmlns:a="http://schemas.openxmlformats.org/drawingml/2006/main" anchorCtr="1"/>
          <a:lstStyle xmlns:a="http://schemas.openxmlformats.org/drawingml/2006/main"/>
          <a:p xmlns:a="http://schemas.openxmlformats.org/drawingml/2006/main">
            <a:pPr>
              <a:defRPr sz="900">
                <a:solidFill>
                  <a:srgbClr val="6A6A6A"/>
                </a:solidFill>
                <a:latin typeface="Arial"/>
                <a:ea typeface="Arial"/>
                <a:cs typeface="Arial"/>
              </a:defRPr>
            </a:pPr>
          </a:p>
        </c:txPr>
        <c:crossAx val="48672768"/>
      </c:catAx>
      <c:valAx>
        <c:axId val="48672768"/>
        <c:scaling>
          <c:orientation val="minMax"/>
          <c:max val="2"/>
          <c:min val="0"/>
        </c:scaling>
        <c:delete val="0"/>
        <c:axPos val="l"/>
        <c:majorGridlines>
          <c:spPr>
            <a:ln xmlns:a="http://schemas.openxmlformats.org/drawingml/2006/main" w="9525">
              <a:solidFill>
                <a:srgbClr val="E6E6E6"/>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Mediana de reseñas al mes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A6A6A"/>
                </a:solidFill>
                <a:latin typeface="Arial"/>
                <a:ea typeface="Arial"/>
                <a:cs typeface="Arial"/>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A6A6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7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A0320B-66A5-4D97-929A-ACE763A4257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F38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11CB78-5314-4EB1-9891-3F7E275640B3}"/>
              </a:ext>
            </a:extLst>
          </p:cNvPr>
          <p:cNvSpPr>
            <a:spLocks xmlns:a="http://schemas.openxmlformats.org/drawingml/2006/main" noGrp="1"/>
          </p:cNvSpPr>
          <p:nvPr/>
        </p:nvSpPr>
        <p:spPr>
          <a:xfrm xmlns:a="http://schemas.openxmlformats.org/drawingml/2006/main">
            <a:off x="685800" y="6858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385C"/>
                </a:solidFill>
                <a:latin typeface="Arial"/>
                <a:ea typeface="Arial"/>
                <a:cs typeface="Arial"/>
              </a:defRPr>
            </a:pPr>
            <a:r>
              <a:rPr sz="1125" b="1">
                <a:solidFill>
                  <a:srgbClr val="FF385C"/>
                </a:solidFill>
                <a:latin typeface="Arial"/>
                <a:ea typeface="Arial"/>
                <a:cs typeface="Arial"/>
              </a:rPr>
              <a:t>ANÁLISIS DE DATOS · AIRBNB</a:t>
            </a:r>
          </a:p>
        </p:txBody>
      </p:sp>
      <p:sp>
        <p:nvSpPr>
          <p:cNvPr id="3" name="">
            <a:extLst xmlns:a="http://schemas.openxmlformats.org/drawingml/2006/main">
              <a:ext uri="{FF2B5EF4-FFF2-40B4-BE49-F238E27FC236}">
                <a16:creationId xmlns:a16="http://schemas.microsoft.com/office/drawing/2014/main" id="{7282EA57-B58A-4EC0-9D08-548731C07F35}"/>
              </a:ext>
            </a:extLst>
          </p:cNvPr>
          <p:cNvSpPr>
            <a:spLocks xmlns:a="http://schemas.openxmlformats.org/drawingml/2006/main" noGrp="1"/>
          </p:cNvSpPr>
          <p:nvPr/>
        </p:nvSpPr>
        <p:spPr>
          <a:xfrm xmlns:a="http://schemas.openxmlformats.org/drawingml/2006/main">
            <a:off x="685800" y="1333500"/>
            <a:ext cx="7334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750" b="1">
                <a:solidFill>
                  <a:srgbClr val="222222"/>
                </a:solidFill>
                <a:latin typeface="Arial"/>
                <a:ea typeface="Arial"/>
                <a:cs typeface="Arial"/>
              </a:defRPr>
            </a:pPr>
            <a:r>
              <a:rPr sz="3750" b="1">
                <a:solidFill>
                  <a:srgbClr val="222222"/>
                </a:solidFill>
                <a:latin typeface="Arial"/>
                <a:ea typeface="Arial"/>
                <a:cs typeface="Arial"/>
              </a:rPr>
              <a:t>Oferta, posicionamiento</a:t>
            </a:r>
          </a:p>
          <a:p xmlns:a="http://schemas.openxmlformats.org/drawingml/2006/main">
            <a:pPr algn="l">
              <a:defRPr sz="3750" b="1">
                <a:solidFill>
                  <a:srgbClr val="222222"/>
                </a:solidFill>
                <a:latin typeface="Arial"/>
                <a:ea typeface="Arial"/>
                <a:cs typeface="Arial"/>
              </a:defRPr>
            </a:pPr>
            <a:r>
              <a:rPr sz="3750" b="1">
                <a:solidFill>
                  <a:srgbClr val="222222"/>
                </a:solidFill>
                <a:latin typeface="Arial"/>
                <a:ea typeface="Arial"/>
                <a:cs typeface="Arial"/>
              </a:rPr>
              <a:t>y calidad en alojamientos</a:t>
            </a:r>
          </a:p>
        </p:txBody>
      </p:sp>
      <p:sp>
        <p:nvSpPr>
          <p:cNvPr id="4" name="">
            <a:extLst xmlns:a="http://schemas.openxmlformats.org/drawingml/2006/main">
              <a:ext uri="{FF2B5EF4-FFF2-40B4-BE49-F238E27FC236}">
                <a16:creationId xmlns:a16="http://schemas.microsoft.com/office/drawing/2014/main" id="{F79BA79F-B260-4F5F-BA3E-B3D7AB8E3601}"/>
              </a:ext>
            </a:extLst>
          </p:cNvPr>
          <p:cNvSpPr>
            <a:spLocks xmlns:a="http://schemas.openxmlformats.org/drawingml/2006/main" noGrp="1"/>
          </p:cNvSpPr>
          <p:nvPr/>
        </p:nvSpPr>
        <p:spPr>
          <a:xfrm xmlns:a="http://schemas.openxmlformats.org/drawingml/2006/main">
            <a:off x="723900" y="31623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6A6A6A"/>
                </a:solidFill>
                <a:latin typeface="Arial"/>
                <a:ea typeface="Arial"/>
                <a:cs typeface="Arial"/>
              </a:defRPr>
            </a:pPr>
            <a:r>
              <a:rPr sz="1800" b="0">
                <a:solidFill>
                  <a:srgbClr val="6A6A6A"/>
                </a:solidFill>
                <a:latin typeface="Arial"/>
                <a:ea typeface="Arial"/>
                <a:cs typeface="Arial"/>
              </a:rPr>
              <a:t>EDA de 220.031 anuncios en seis ciudades</a:t>
            </a:r>
          </a:p>
        </p:txBody>
      </p:sp>
      <p:sp>
        <p:nvSpPr>
          <p:cNvPr id="5" name="">
            <a:extLst xmlns:a="http://schemas.openxmlformats.org/drawingml/2006/main">
              <a:ext uri="{FF2B5EF4-FFF2-40B4-BE49-F238E27FC236}">
                <a16:creationId xmlns:a16="http://schemas.microsoft.com/office/drawing/2014/main" id="{8666C61E-C635-4529-8FA6-E1FD9AFE762F}"/>
              </a:ext>
            </a:extLst>
          </p:cNvPr>
          <p:cNvSpPr>
            <a:spLocks xmlns:a="http://schemas.openxmlformats.org/drawingml/2006/main" noGrp="1"/>
          </p:cNvSpPr>
          <p:nvPr/>
        </p:nvSpPr>
        <p:spPr>
          <a:xfrm xmlns:a="http://schemas.openxmlformats.org/drawingml/2006/main">
            <a:off x="8191500" y="1066800"/>
            <a:ext cx="2857500" cy="4095750"/>
          </a:xfrm>
          <a:prstGeom xmlns:a="http://schemas.openxmlformats.org/drawingml/2006/main" prst="roundRect">
            <a:avLst>
              <a:gd name="adj" fmla="val 9333"/>
            </a:avLst>
          </a:prstGeom>
          <a:solidFill xmlns:a="http://schemas.openxmlformats.org/drawingml/2006/main">
            <a:srgbClr val="FF38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C36A573-35B6-47A9-AD10-1A803C414002}"/>
              </a:ext>
            </a:extLst>
          </p:cNvPr>
          <p:cNvSpPr>
            <a:spLocks xmlns:a="http://schemas.openxmlformats.org/drawingml/2006/main" noGrp="1"/>
          </p:cNvSpPr>
          <p:nvPr/>
        </p:nvSpPr>
        <p:spPr>
          <a:xfrm xmlns:a="http://schemas.openxmlformats.org/drawingml/2006/main">
            <a:off x="8667750" y="1619250"/>
            <a:ext cx="190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400" b="1">
                <a:solidFill>
                  <a:srgbClr val="FFFFFF"/>
                </a:solidFill>
                <a:latin typeface="Arial"/>
                <a:ea typeface="Arial"/>
                <a:cs typeface="Arial"/>
              </a:defRPr>
            </a:pPr>
            <a:r>
              <a:rPr sz="5400" b="1">
                <a:solidFill>
                  <a:srgbClr val="FFFFFF"/>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4455AE11-9DD9-4C12-BF5D-C5DEA491F407}"/>
              </a:ext>
            </a:extLst>
          </p:cNvPr>
          <p:cNvSpPr>
            <a:spLocks xmlns:a="http://schemas.openxmlformats.org/drawingml/2006/main" noGrp="1"/>
          </p:cNvSpPr>
          <p:nvPr/>
        </p:nvSpPr>
        <p:spPr>
          <a:xfrm xmlns:a="http://schemas.openxmlformats.org/drawingml/2006/main">
            <a:off x="8667750" y="2476500"/>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ciudades</a:t>
            </a:r>
          </a:p>
        </p:txBody>
      </p:sp>
      <p:sp>
        <p:nvSpPr>
          <p:cNvPr id="8" name="">
            <a:extLst xmlns:a="http://schemas.openxmlformats.org/drawingml/2006/main">
              <a:ext uri="{FF2B5EF4-FFF2-40B4-BE49-F238E27FC236}">
                <a16:creationId xmlns:a16="http://schemas.microsoft.com/office/drawing/2014/main" id="{869D6984-E470-41F4-8E4F-ED5DDC83DD5B}"/>
              </a:ext>
            </a:extLst>
          </p:cNvPr>
          <p:cNvSpPr>
            <a:spLocks xmlns:a="http://schemas.openxmlformats.org/drawingml/2006/main" noGrp="1"/>
          </p:cNvSpPr>
          <p:nvPr/>
        </p:nvSpPr>
        <p:spPr>
          <a:xfrm xmlns:a="http://schemas.openxmlformats.org/drawingml/2006/main">
            <a:off x="8572500" y="333375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FFFFFF"/>
                </a:solidFill>
                <a:latin typeface="Arial"/>
                <a:ea typeface="Arial"/>
                <a:cs typeface="Arial"/>
              </a:defRPr>
            </a:pPr>
            <a:r>
              <a:rPr sz="3000" b="1">
                <a:solidFill>
                  <a:srgbClr val="FFFFFF"/>
                </a:solidFill>
                <a:latin typeface="Arial"/>
                <a:ea typeface="Arial"/>
                <a:cs typeface="Arial"/>
              </a:rPr>
              <a:t>220.031</a:t>
            </a:r>
          </a:p>
        </p:txBody>
      </p:sp>
      <p:sp>
        <p:nvSpPr>
          <p:cNvPr id="9" name="">
            <a:extLst xmlns:a="http://schemas.openxmlformats.org/drawingml/2006/main">
              <a:ext uri="{FF2B5EF4-FFF2-40B4-BE49-F238E27FC236}">
                <a16:creationId xmlns:a16="http://schemas.microsoft.com/office/drawing/2014/main" id="{471055AB-C05E-4BDA-90DA-21110F0961CA}"/>
              </a:ext>
            </a:extLst>
          </p:cNvPr>
          <p:cNvSpPr>
            <a:spLocks xmlns:a="http://schemas.openxmlformats.org/drawingml/2006/main" noGrp="1"/>
          </p:cNvSpPr>
          <p:nvPr/>
        </p:nvSpPr>
        <p:spPr>
          <a:xfrm xmlns:a="http://schemas.openxmlformats.org/drawingml/2006/main">
            <a:off x="8667750" y="3924300"/>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a:solidFill>
                  <a:srgbClr val="FFFFFF"/>
                </a:solidFill>
                <a:latin typeface="Arial"/>
                <a:ea typeface="Arial"/>
                <a:cs typeface="Arial"/>
              </a:defRPr>
            </a:pPr>
            <a:r>
              <a:rPr sz="1650" b="0">
                <a:solidFill>
                  <a:srgbClr val="FFFFFF"/>
                </a:solidFill>
                <a:latin typeface="Arial"/>
                <a:ea typeface="Arial"/>
                <a:cs typeface="Arial"/>
              </a:rPr>
              <a:t>anuncios</a:t>
            </a:r>
          </a:p>
        </p:txBody>
      </p:sp>
      <p:sp>
        <p:nvSpPr>
          <p:cNvPr id="10" name="">
            <a:extLst xmlns:a="http://schemas.openxmlformats.org/drawingml/2006/main">
              <a:ext uri="{FF2B5EF4-FFF2-40B4-BE49-F238E27FC236}">
                <a16:creationId xmlns:a16="http://schemas.microsoft.com/office/drawing/2014/main" id="{1068E5B1-F0D9-4928-8505-747F8191DA61}"/>
              </a:ext>
            </a:extLst>
          </p:cNvPr>
          <p:cNvSpPr>
            <a:spLocks xmlns:a="http://schemas.openxmlformats.org/drawingml/2006/main" noGrp="1"/>
          </p:cNvSpPr>
          <p:nvPr/>
        </p:nvSpPr>
        <p:spPr>
          <a:xfrm xmlns:a="http://schemas.openxmlformats.org/drawingml/2006/main">
            <a:off x="685800" y="60388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A6A6A"/>
                </a:solidFill>
                <a:latin typeface="Arial"/>
                <a:ea typeface="Arial"/>
                <a:cs typeface="Arial"/>
              </a:defRPr>
            </a:pPr>
            <a:r>
              <a:rPr sz="1200" b="0">
                <a:solidFill>
                  <a:srgbClr val="6A6A6A"/>
                </a:solidFill>
                <a:latin typeface="Arial"/>
                <a:ea typeface="Arial"/>
                <a:cs typeface="Arial"/>
              </a:rPr>
              <a:t>Fernanda · Proyecto 8 · 2026</a:t>
            </a:r>
          </a:p>
        </p:txBody>
      </p:sp>
    </p:spTree>
    <p:extLst>
      <p:ext uri="{BB962C8B-B14F-4D97-AF65-F5344CB8AC3E}">
        <p14:creationId xmlns:p14="http://schemas.microsoft.com/office/powerpoint/2010/main" val="19779626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121E112-CD93-44B6-82AD-04D11102AF43}"/>
              </a:ext>
            </a:extLst>
          </p:cNvPr>
          <p:cNvSpPr>
            <a:spLocks xmlns:a="http://schemas.openxmlformats.org/drawingml/2006/main" noGrp="1"/>
          </p:cNvSpPr>
          <p:nvPr/>
        </p:nvSpPr>
        <p:spPr>
          <a:xfrm xmlns:a="http://schemas.openxmlformats.org/drawingml/2006/main">
            <a:off x="609600" y="304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385C"/>
                </a:solidFill>
                <a:latin typeface="Arial"/>
                <a:ea typeface="Arial"/>
                <a:cs typeface="Arial"/>
              </a:defRPr>
            </a:pPr>
            <a:r>
              <a:rPr sz="975" b="1">
                <a:solidFill>
                  <a:srgbClr val="FF385C"/>
                </a:solidFill>
                <a:latin typeface="Arial"/>
                <a:ea typeface="Arial"/>
                <a:cs typeface="Arial"/>
              </a:rPr>
              <a:t>OBJETIVO</a:t>
            </a:r>
          </a:p>
        </p:txBody>
      </p:sp>
      <p:sp>
        <p:nvSpPr>
          <p:cNvPr id="2" name="">
            <a:extLst xmlns:a="http://schemas.openxmlformats.org/drawingml/2006/main">
              <a:ext uri="{FF2B5EF4-FFF2-40B4-BE49-F238E27FC236}">
                <a16:creationId xmlns:a16="http://schemas.microsoft.com/office/drawing/2014/main" id="{DAED0156-22A1-49BA-9C64-FFA85E7D6EF5}"/>
              </a:ext>
            </a:extLst>
          </p:cNvPr>
          <p:cNvSpPr>
            <a:spLocks xmlns:a="http://schemas.openxmlformats.org/drawingml/2006/main" noGrp="1"/>
          </p:cNvSpPr>
          <p:nvPr/>
        </p:nvSpPr>
        <p:spPr>
          <a:xfrm xmlns:a="http://schemas.openxmlformats.org/drawingml/2006/main">
            <a:off x="609600" y="5905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222222"/>
                </a:solidFill>
                <a:latin typeface="Arial"/>
                <a:ea typeface="Arial"/>
                <a:cs typeface="Arial"/>
              </a:defRPr>
            </a:pPr>
            <a:r>
              <a:rPr sz="2700" b="1">
                <a:solidFill>
                  <a:srgbClr val="222222"/>
                </a:solidFill>
                <a:latin typeface="Arial"/>
                <a:ea typeface="Arial"/>
                <a:cs typeface="Arial"/>
              </a:rPr>
              <a:t>Dos decisiones concretas, un mismo análisis</a:t>
            </a:r>
          </a:p>
        </p:txBody>
      </p:sp>
      <p:sp>
        <p:nvSpPr>
          <p:cNvPr id="3" name="">
            <a:extLst xmlns:a="http://schemas.openxmlformats.org/drawingml/2006/main">
              <a:ext uri="{FF2B5EF4-FFF2-40B4-BE49-F238E27FC236}">
                <a16:creationId xmlns:a16="http://schemas.microsoft.com/office/drawing/2014/main" id="{E661894C-F448-4BDD-A009-946745565DBE}"/>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E6E6E6"/>
            </a:solidFill>
            <a:prstDash val="solid"/>
          </a:ln>
        </p:spPr>
      </p:sp>
      <p:sp>
        <p:nvSpPr>
          <p:cNvPr id="4" name="">
            <a:extLst xmlns:a="http://schemas.openxmlformats.org/drawingml/2006/main">
              <a:ext uri="{FF2B5EF4-FFF2-40B4-BE49-F238E27FC236}">
                <a16:creationId xmlns:a16="http://schemas.microsoft.com/office/drawing/2014/main" id="{8BB60072-F583-4842-8FDC-735F64C3DD63}"/>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A6A6A"/>
                </a:solidFill>
                <a:latin typeface="Arial"/>
                <a:ea typeface="Arial"/>
                <a:cs typeface="Arial"/>
              </a:defRPr>
            </a:pPr>
            <a:r>
              <a:rPr sz="825" b="0">
                <a:solidFill>
                  <a:srgbClr val="6A6A6A"/>
                </a:solidFill>
                <a:latin typeface="Arial"/>
                <a:ea typeface="Arial"/>
                <a:cs typeface="Arial"/>
              </a:rPr>
              <a:t>Proyecto educativo independiente · Datos de seis ciudades</a:t>
            </a:r>
          </a:p>
        </p:txBody>
      </p:sp>
      <p:sp>
        <p:nvSpPr>
          <p:cNvPr id="5" name="">
            <a:extLst xmlns:a="http://schemas.openxmlformats.org/drawingml/2006/main">
              <a:ext uri="{FF2B5EF4-FFF2-40B4-BE49-F238E27FC236}">
                <a16:creationId xmlns:a16="http://schemas.microsoft.com/office/drawing/2014/main" id="{F43FB397-296D-4285-9430-F59F856A14AA}"/>
              </a:ext>
            </a:extLst>
          </p:cNvPr>
          <p:cNvSpPr>
            <a:spLocks xmlns:a="http://schemas.openxmlformats.org/drawingml/2006/main" noGrp="1"/>
          </p:cNvSpPr>
          <p:nvPr/>
        </p:nvSpPr>
        <p:spPr>
          <a:xfrm xmlns:a="http://schemas.openxmlformats.org/drawingml/2006/main">
            <a:off x="111252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6A6A6A"/>
                </a:solidFill>
                <a:latin typeface="Arial"/>
                <a:ea typeface="Arial"/>
                <a:cs typeface="Arial"/>
              </a:defRPr>
            </a:pPr>
            <a:r>
              <a:rPr sz="825" b="0">
                <a:solidFill>
                  <a:srgbClr val="6A6A6A"/>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CE285772-BA70-4143-BFB7-86F35E165D06}"/>
              </a:ext>
            </a:extLst>
          </p:cNvPr>
          <p:cNvSpPr>
            <a:spLocks xmlns:a="http://schemas.openxmlformats.org/drawingml/2006/main" noGrp="1"/>
          </p:cNvSpPr>
          <p:nvPr/>
        </p:nvSpPr>
        <p:spPr>
          <a:xfrm xmlns:a="http://schemas.openxmlformats.org/drawingml/2006/main">
            <a:off x="800100" y="16573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22222"/>
                </a:solidFill>
                <a:latin typeface="Arial"/>
                <a:ea typeface="Arial"/>
                <a:cs typeface="Arial"/>
              </a:defRPr>
            </a:pPr>
            <a:r>
              <a:rPr sz="2100" b="1">
                <a:solidFill>
                  <a:srgbClr val="222222"/>
                </a:solidFill>
                <a:latin typeface="Arial"/>
                <a:ea typeface="Arial"/>
                <a:cs typeface="Arial"/>
              </a:rPr>
              <a:t>¿Dónde conviene investigar?</a:t>
            </a:r>
          </a:p>
        </p:txBody>
      </p:sp>
      <p:sp>
        <p:nvSpPr>
          <p:cNvPr id="7" name="">
            <a:extLst xmlns:a="http://schemas.openxmlformats.org/drawingml/2006/main">
              <a:ext uri="{FF2B5EF4-FFF2-40B4-BE49-F238E27FC236}">
                <a16:creationId xmlns:a16="http://schemas.microsoft.com/office/drawing/2014/main" id="{F70BC245-8575-462C-A530-F11B4A1F2181}"/>
              </a:ext>
            </a:extLst>
          </p:cNvPr>
          <p:cNvSpPr>
            <a:spLocks xmlns:a="http://schemas.openxmlformats.org/drawingml/2006/main" noGrp="1"/>
          </p:cNvSpPr>
          <p:nvPr/>
        </p:nvSpPr>
        <p:spPr>
          <a:xfrm xmlns:a="http://schemas.openxmlformats.org/drawingml/2006/main">
            <a:off x="800100" y="21526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A6A6A"/>
                </a:solidFill>
                <a:latin typeface="Arial"/>
                <a:ea typeface="Arial"/>
                <a:cs typeface="Arial"/>
              </a:defRPr>
            </a:pPr>
            <a:r>
              <a:rPr sz="1575" b="0">
                <a:solidFill>
                  <a:srgbClr val="6A6A6A"/>
                </a:solidFill>
                <a:latin typeface="Arial"/>
                <a:ea typeface="Arial"/>
                <a:cs typeface="Arial"/>
              </a:rPr>
              <a:t>Compara ciudad, barrio y tipo de alojamiento para detectar oferta relevante, precio relativo y actividad aproximada.</a:t>
            </a:r>
          </a:p>
        </p:txBody>
      </p:sp>
      <p:sp>
        <p:nvSpPr>
          <p:cNvPr id="8" name="">
            <a:extLst xmlns:a="http://schemas.openxmlformats.org/drawingml/2006/main">
              <a:ext uri="{FF2B5EF4-FFF2-40B4-BE49-F238E27FC236}">
                <a16:creationId xmlns:a16="http://schemas.microsoft.com/office/drawing/2014/main" id="{129F1B51-3567-44C5-B3C5-3752D9AE641E}"/>
              </a:ext>
            </a:extLst>
          </p:cNvPr>
          <p:cNvSpPr>
            <a:spLocks xmlns:a="http://schemas.openxmlformats.org/drawingml/2006/main" noGrp="1"/>
          </p:cNvSpPr>
          <p:nvPr/>
        </p:nvSpPr>
        <p:spPr>
          <a:xfrm xmlns:a="http://schemas.openxmlformats.org/drawingml/2006/main">
            <a:off x="6819900" y="16573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22222"/>
                </a:solidFill>
                <a:latin typeface="Arial"/>
                <a:ea typeface="Arial"/>
                <a:cs typeface="Arial"/>
              </a:defRPr>
            </a:pPr>
            <a:r>
              <a:rPr sz="2100" b="1">
                <a:solidFill>
                  <a:srgbClr val="222222"/>
                </a:solidFill>
                <a:latin typeface="Arial"/>
                <a:ea typeface="Arial"/>
                <a:cs typeface="Arial"/>
              </a:rPr>
              <a:t>¿Qué registros revisar primero?</a:t>
            </a:r>
          </a:p>
        </p:txBody>
      </p:sp>
      <p:sp>
        <p:nvSpPr>
          <p:cNvPr id="9" name="">
            <a:extLst xmlns:a="http://schemas.openxmlformats.org/drawingml/2006/main">
              <a:ext uri="{FF2B5EF4-FFF2-40B4-BE49-F238E27FC236}">
                <a16:creationId xmlns:a16="http://schemas.microsoft.com/office/drawing/2014/main" id="{72663E8E-E3D0-4BC4-A41F-F81995E35457}"/>
              </a:ext>
            </a:extLst>
          </p:cNvPr>
          <p:cNvSpPr>
            <a:spLocks xmlns:a="http://schemas.openxmlformats.org/drawingml/2006/main" noGrp="1"/>
          </p:cNvSpPr>
          <p:nvPr/>
        </p:nvSpPr>
        <p:spPr>
          <a:xfrm xmlns:a="http://schemas.openxmlformats.org/drawingml/2006/main">
            <a:off x="6819900" y="21526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A6A6A"/>
                </a:solidFill>
                <a:latin typeface="Arial"/>
                <a:ea typeface="Arial"/>
                <a:cs typeface="Arial"/>
              </a:defRPr>
            </a:pPr>
            <a:r>
              <a:rPr sz="1575" b="0">
                <a:solidFill>
                  <a:srgbClr val="6A6A6A"/>
                </a:solidFill>
                <a:latin typeface="Arial"/>
                <a:ea typeface="Arial"/>
                <a:cs typeface="Arial"/>
              </a:rPr>
              <a:t>Señala precios no positivos, estancias mínimas extremas y contradicciones en variables de reseñas.</a:t>
            </a:r>
          </a:p>
        </p:txBody>
      </p:sp>
      <p:sp>
        <p:nvSpPr>
          <p:cNvPr id="10" name="">
            <a:extLst xmlns:a="http://schemas.openxmlformats.org/drawingml/2006/main">
              <a:ext uri="{FF2B5EF4-FFF2-40B4-BE49-F238E27FC236}">
                <a16:creationId xmlns:a16="http://schemas.microsoft.com/office/drawing/2014/main" id="{F03421CD-D22F-4E61-90C9-4CD669D594FE}"/>
              </a:ext>
            </a:extLst>
          </p:cNvPr>
          <p:cNvSpPr>
            <a:spLocks xmlns:a="http://schemas.openxmlformats.org/drawingml/2006/main" noGrp="1"/>
          </p:cNvSpPr>
          <p:nvPr/>
        </p:nvSpPr>
        <p:spPr>
          <a:xfrm xmlns:a="http://schemas.openxmlformats.org/drawingml/2006/main">
            <a:off x="800100" y="3619500"/>
            <a:ext cx="4572000" cy="1571625"/>
          </a:xfrm>
          <a:prstGeom xmlns:a="http://schemas.openxmlformats.org/drawingml/2006/main" prst="roundRect">
            <a:avLst>
              <a:gd name="adj" fmla="val 12121"/>
            </a:avLst>
          </a:prstGeom>
          <a:solidFill xmlns:a="http://schemas.openxmlformats.org/drawingml/2006/main">
            <a:srgbClr val="FFF7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EF8938E-E1F1-4CA7-B454-8A0D5EBCA23C}"/>
              </a:ext>
            </a:extLst>
          </p:cNvPr>
          <p:cNvSpPr>
            <a:spLocks xmlns:a="http://schemas.openxmlformats.org/drawingml/2006/main" noGrp="1"/>
          </p:cNvSpPr>
          <p:nvPr/>
        </p:nvSpPr>
        <p:spPr>
          <a:xfrm xmlns:a="http://schemas.openxmlformats.org/drawingml/2006/main">
            <a:off x="1047750" y="3905250"/>
            <a:ext cx="114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FF385C"/>
                </a:solidFill>
                <a:latin typeface="Arial"/>
                <a:ea typeface="Arial"/>
                <a:cs typeface="Arial"/>
              </a:defRPr>
            </a:pPr>
            <a:r>
              <a:rPr sz="3450" b="1">
                <a:solidFill>
                  <a:srgbClr val="FF385C"/>
                </a:solidFill>
                <a:latin typeface="Arial"/>
                <a:ea typeface="Arial"/>
                <a:cs typeface="Arial"/>
              </a:rPr>
              <a:t>30</a:t>
            </a:r>
          </a:p>
        </p:txBody>
      </p:sp>
      <p:sp>
        <p:nvSpPr>
          <p:cNvPr id="12" name="">
            <a:extLst xmlns:a="http://schemas.openxmlformats.org/drawingml/2006/main">
              <a:ext uri="{FF2B5EF4-FFF2-40B4-BE49-F238E27FC236}">
                <a16:creationId xmlns:a16="http://schemas.microsoft.com/office/drawing/2014/main" id="{1BB0B4DB-5DBE-4FD4-A17A-0CBA2B607A7B}"/>
              </a:ext>
            </a:extLst>
          </p:cNvPr>
          <p:cNvSpPr>
            <a:spLocks xmlns:a="http://schemas.openxmlformats.org/drawingml/2006/main" noGrp="1"/>
          </p:cNvSpPr>
          <p:nvPr/>
        </p:nvSpPr>
        <p:spPr>
          <a:xfrm xmlns:a="http://schemas.openxmlformats.org/drawingml/2006/main">
            <a:off x="2305050" y="3886200"/>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22222"/>
                </a:solidFill>
                <a:latin typeface="Arial"/>
                <a:ea typeface="Arial"/>
                <a:cs typeface="Arial"/>
              </a:defRPr>
            </a:pPr>
            <a:r>
              <a:rPr sz="1575" b="1">
                <a:solidFill>
                  <a:srgbClr val="222222"/>
                </a:solidFill>
                <a:latin typeface="Arial"/>
                <a:ea typeface="Arial"/>
                <a:cs typeface="Arial"/>
              </a:rPr>
              <a:t>segmentos candidatos</a:t>
            </a:r>
          </a:p>
          <a:p xmlns:a="http://schemas.openxmlformats.org/drawingml/2006/main">
            <a:pPr algn="l">
              <a:defRPr sz="1575" b="1">
                <a:solidFill>
                  <a:srgbClr val="222222"/>
                </a:solidFill>
                <a:latin typeface="Arial"/>
                <a:ea typeface="Arial"/>
                <a:cs typeface="Arial"/>
              </a:defRPr>
            </a:pPr>
            <a:r>
              <a:rPr sz="1575" b="1">
                <a:solidFill>
                  <a:srgbClr val="222222"/>
                </a:solidFill>
                <a:latin typeface="Arial"/>
                <a:ea typeface="Arial"/>
                <a:cs typeface="Arial"/>
              </a:rPr>
              <a:t>para investigación</a:t>
            </a:r>
          </a:p>
        </p:txBody>
      </p:sp>
      <p:sp>
        <p:nvSpPr>
          <p:cNvPr id="13" name="">
            <a:extLst xmlns:a="http://schemas.openxmlformats.org/drawingml/2006/main">
              <a:ext uri="{FF2B5EF4-FFF2-40B4-BE49-F238E27FC236}">
                <a16:creationId xmlns:a16="http://schemas.microsoft.com/office/drawing/2014/main" id="{639E4A95-AA23-4F7A-BB73-3E46709D254F}"/>
              </a:ext>
            </a:extLst>
          </p:cNvPr>
          <p:cNvSpPr>
            <a:spLocks xmlns:a="http://schemas.openxmlformats.org/drawingml/2006/main" noGrp="1"/>
          </p:cNvSpPr>
          <p:nvPr/>
        </p:nvSpPr>
        <p:spPr>
          <a:xfrm xmlns:a="http://schemas.openxmlformats.org/drawingml/2006/main">
            <a:off x="6819900" y="3619500"/>
            <a:ext cx="4572000" cy="1571625"/>
          </a:xfrm>
          <a:prstGeom xmlns:a="http://schemas.openxmlformats.org/drawingml/2006/main" prst="roundRect">
            <a:avLst>
              <a:gd name="adj" fmla="val 12121"/>
            </a:avLst>
          </a:prstGeom>
          <a:solidFill xmlns:a="http://schemas.openxmlformats.org/drawingml/2006/main">
            <a:srgbClr val="F4FB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AE0D8D6-2A69-4343-AEE3-8E68B4F7CB68}"/>
              </a:ext>
            </a:extLst>
          </p:cNvPr>
          <p:cNvSpPr>
            <a:spLocks xmlns:a="http://schemas.openxmlformats.org/drawingml/2006/main" noGrp="1"/>
          </p:cNvSpPr>
          <p:nvPr/>
        </p:nvSpPr>
        <p:spPr>
          <a:xfrm xmlns:a="http://schemas.openxmlformats.org/drawingml/2006/main">
            <a:off x="7067550" y="3905250"/>
            <a:ext cx="133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00A699"/>
                </a:solidFill>
                <a:latin typeface="Arial"/>
                <a:ea typeface="Arial"/>
                <a:cs typeface="Arial"/>
              </a:defRPr>
            </a:pPr>
            <a:r>
              <a:rPr sz="3450" b="1">
                <a:solidFill>
                  <a:srgbClr val="00A699"/>
                </a:solidFill>
                <a:latin typeface="Arial"/>
                <a:ea typeface="Arial"/>
                <a:cs typeface="Arial"/>
              </a:rPr>
              <a:t>193</a:t>
            </a:r>
          </a:p>
        </p:txBody>
      </p:sp>
      <p:sp>
        <p:nvSpPr>
          <p:cNvPr id="15" name="">
            <a:extLst xmlns:a="http://schemas.openxmlformats.org/drawingml/2006/main">
              <a:ext uri="{FF2B5EF4-FFF2-40B4-BE49-F238E27FC236}">
                <a16:creationId xmlns:a16="http://schemas.microsoft.com/office/drawing/2014/main" id="{5D1FC1A6-87BA-4112-8E7F-89DA4228F006}"/>
              </a:ext>
            </a:extLst>
          </p:cNvPr>
          <p:cNvSpPr>
            <a:spLocks xmlns:a="http://schemas.openxmlformats.org/drawingml/2006/main" noGrp="1"/>
          </p:cNvSpPr>
          <p:nvPr/>
        </p:nvSpPr>
        <p:spPr>
          <a:xfrm xmlns:a="http://schemas.openxmlformats.org/drawingml/2006/main">
            <a:off x="8496300" y="3886200"/>
            <a:ext cx="2571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22222"/>
                </a:solidFill>
                <a:latin typeface="Arial"/>
                <a:ea typeface="Arial"/>
                <a:cs typeface="Arial"/>
              </a:defRPr>
            </a:pPr>
            <a:r>
              <a:rPr sz="1575" b="1">
                <a:solidFill>
                  <a:srgbClr val="222222"/>
                </a:solidFill>
                <a:latin typeface="Arial"/>
                <a:ea typeface="Arial"/>
                <a:cs typeface="Arial"/>
              </a:rPr>
              <a:t>señales de calidad</a:t>
            </a:r>
          </a:p>
          <a:p xmlns:a="http://schemas.openxmlformats.org/drawingml/2006/main">
            <a:pPr algn="l">
              <a:defRPr sz="1575" b="1">
                <a:solidFill>
                  <a:srgbClr val="222222"/>
                </a:solidFill>
                <a:latin typeface="Arial"/>
                <a:ea typeface="Arial"/>
                <a:cs typeface="Arial"/>
              </a:defRPr>
            </a:pPr>
            <a:r>
              <a:rPr sz="1575" b="1">
                <a:solidFill>
                  <a:srgbClr val="222222"/>
                </a:solidFill>
                <a:latin typeface="Arial"/>
                <a:ea typeface="Arial"/>
                <a:cs typeface="Arial"/>
              </a:rPr>
              <a:t>en tres reglas prioritarias</a:t>
            </a:r>
          </a:p>
        </p:txBody>
      </p:sp>
      <p:sp>
        <p:nvSpPr>
          <p:cNvPr id="16" name="">
            <a:extLst xmlns:a="http://schemas.openxmlformats.org/drawingml/2006/main">
              <a:ext uri="{FF2B5EF4-FFF2-40B4-BE49-F238E27FC236}">
                <a16:creationId xmlns:a16="http://schemas.microsoft.com/office/drawing/2014/main" id="{97AA2373-B585-444E-87C9-6CBEF667EEEE}"/>
              </a:ext>
            </a:extLst>
          </p:cNvPr>
          <p:cNvSpPr>
            <a:spLocks xmlns:a="http://schemas.openxmlformats.org/drawingml/2006/main" noGrp="1"/>
          </p:cNvSpPr>
          <p:nvPr/>
        </p:nvSpPr>
        <p:spPr>
          <a:xfrm xmlns:a="http://schemas.openxmlformats.org/drawingml/2006/main">
            <a:off x="800100" y="5638800"/>
            <a:ext cx="10591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D90B3E"/>
                </a:solidFill>
                <a:latin typeface="Arial"/>
                <a:ea typeface="Arial"/>
                <a:cs typeface="Arial"/>
              </a:defRPr>
            </a:pPr>
            <a:r>
              <a:rPr sz="1650" b="1">
                <a:solidFill>
                  <a:srgbClr val="D90B3E"/>
                </a:solidFill>
                <a:latin typeface="Arial"/>
                <a:ea typeface="Arial"/>
                <a:cs typeface="Arial"/>
              </a:rPr>
              <a:t>El resultado prioriza investigación. No prescribe precios ni inversión.</a:t>
            </a:r>
          </a:p>
        </p:txBody>
      </p:sp>
    </p:spTree>
    <p:extLst>
      <p:ext uri="{BB962C8B-B14F-4D97-AF65-F5344CB8AC3E}">
        <p14:creationId xmlns:p14="http://schemas.microsoft.com/office/powerpoint/2010/main" val="16877986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70483E8-826B-4207-9208-B45CFD482410}"/>
              </a:ext>
            </a:extLst>
          </p:cNvPr>
          <p:cNvSpPr>
            <a:spLocks xmlns:a="http://schemas.openxmlformats.org/drawingml/2006/main" noGrp="1"/>
          </p:cNvSpPr>
          <p:nvPr/>
        </p:nvSpPr>
        <p:spPr>
          <a:xfrm xmlns:a="http://schemas.openxmlformats.org/drawingml/2006/main">
            <a:off x="609600" y="304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385C"/>
                </a:solidFill>
                <a:latin typeface="Arial"/>
                <a:ea typeface="Arial"/>
                <a:cs typeface="Arial"/>
              </a:defRPr>
            </a:pPr>
            <a:r>
              <a:rPr sz="975" b="1">
                <a:solidFill>
                  <a:srgbClr val="FF385C"/>
                </a:solidFill>
                <a:latin typeface="Arial"/>
                <a:ea typeface="Arial"/>
                <a:cs typeface="Arial"/>
              </a:rPr>
              <a:t>DATOS</a:t>
            </a:r>
          </a:p>
        </p:txBody>
      </p:sp>
      <p:sp>
        <p:nvSpPr>
          <p:cNvPr id="2" name="">
            <a:extLst xmlns:a="http://schemas.openxmlformats.org/drawingml/2006/main">
              <a:ext uri="{FF2B5EF4-FFF2-40B4-BE49-F238E27FC236}">
                <a16:creationId xmlns:a16="http://schemas.microsoft.com/office/drawing/2014/main" id="{E0F0A0D7-FE34-4F7C-A439-57D107592D46}"/>
              </a:ext>
            </a:extLst>
          </p:cNvPr>
          <p:cNvSpPr>
            <a:spLocks xmlns:a="http://schemas.openxmlformats.org/drawingml/2006/main" noGrp="1"/>
          </p:cNvSpPr>
          <p:nvPr/>
        </p:nvSpPr>
        <p:spPr>
          <a:xfrm xmlns:a="http://schemas.openxmlformats.org/drawingml/2006/main">
            <a:off x="609600" y="5905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222222"/>
                </a:solidFill>
                <a:latin typeface="Arial"/>
                <a:ea typeface="Arial"/>
                <a:cs typeface="Arial"/>
              </a:defRPr>
            </a:pPr>
            <a:r>
              <a:rPr sz="2700" b="1">
                <a:solidFill>
                  <a:srgbClr val="222222"/>
                </a:solidFill>
                <a:latin typeface="Arial"/>
                <a:ea typeface="Arial"/>
                <a:cs typeface="Arial"/>
              </a:rPr>
              <a:t>Londres concentra casi cuatro de cada diez anuncios</a:t>
            </a:r>
          </a:p>
        </p:txBody>
      </p:sp>
      <p:sp>
        <p:nvSpPr>
          <p:cNvPr id="3" name="">
            <a:extLst xmlns:a="http://schemas.openxmlformats.org/drawingml/2006/main">
              <a:ext uri="{FF2B5EF4-FFF2-40B4-BE49-F238E27FC236}">
                <a16:creationId xmlns:a16="http://schemas.microsoft.com/office/drawing/2014/main" id="{3CAC32CD-5F85-4A01-B24C-749B8A1C118A}"/>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E6E6E6"/>
            </a:solidFill>
            <a:prstDash val="solid"/>
          </a:ln>
        </p:spPr>
      </p:sp>
      <p:sp>
        <p:nvSpPr>
          <p:cNvPr id="4" name="">
            <a:extLst xmlns:a="http://schemas.openxmlformats.org/drawingml/2006/main">
              <a:ext uri="{FF2B5EF4-FFF2-40B4-BE49-F238E27FC236}">
                <a16:creationId xmlns:a16="http://schemas.microsoft.com/office/drawing/2014/main" id="{FF188108-397A-4765-BDC6-5C926B2793C4}"/>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A6A6A"/>
                </a:solidFill>
                <a:latin typeface="Arial"/>
                <a:ea typeface="Arial"/>
                <a:cs typeface="Arial"/>
              </a:defRPr>
            </a:pPr>
            <a:r>
              <a:rPr sz="825" b="0">
                <a:solidFill>
                  <a:srgbClr val="6A6A6A"/>
                </a:solidFill>
                <a:latin typeface="Arial"/>
                <a:ea typeface="Arial"/>
                <a:cs typeface="Arial"/>
              </a:rPr>
              <a:t>Proyecto educativo independiente · Datos de seis ciudades</a:t>
            </a:r>
          </a:p>
        </p:txBody>
      </p:sp>
      <p:sp>
        <p:nvSpPr>
          <p:cNvPr id="5" name="">
            <a:extLst xmlns:a="http://schemas.openxmlformats.org/drawingml/2006/main">
              <a:ext uri="{FF2B5EF4-FFF2-40B4-BE49-F238E27FC236}">
                <a16:creationId xmlns:a16="http://schemas.microsoft.com/office/drawing/2014/main" id="{E1636B8B-4772-46AE-8AD5-31C17C122DB8}"/>
              </a:ext>
            </a:extLst>
          </p:cNvPr>
          <p:cNvSpPr>
            <a:spLocks xmlns:a="http://schemas.openxmlformats.org/drawingml/2006/main" noGrp="1"/>
          </p:cNvSpPr>
          <p:nvPr/>
        </p:nvSpPr>
        <p:spPr>
          <a:xfrm xmlns:a="http://schemas.openxmlformats.org/drawingml/2006/main">
            <a:off x="111252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6A6A6A"/>
                </a:solidFill>
                <a:latin typeface="Arial"/>
                <a:ea typeface="Arial"/>
                <a:cs typeface="Arial"/>
              </a:defRPr>
            </a:pPr>
            <a:r>
              <a:rPr sz="825" b="0">
                <a:solidFill>
                  <a:srgbClr val="6A6A6A"/>
                </a:solidFill>
                <a:latin typeface="Arial"/>
                <a:ea typeface="Arial"/>
                <a:cs typeface="Arial"/>
              </a:rPr>
              <a:t>03</a:t>
            </a:r>
          </a:p>
        </p:txBody>
      </p:sp>
      <p:graphicFrame>
        <p:nvGraphicFramePr>
          <p:cNvPr id="19" name="Chart"/>
          <p:cNvGraphicFramePr/>
          <p:nvPr/>
        </p:nvGraphicFramePr>
        <p:xfrm>
          <a:off xmlns:a="http://schemas.openxmlformats.org/drawingml/2006/main" x="685800" y="15621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59b02fc29b304640"/>
          </a:graphicData>
        </a:graphic>
      </p:graphicFrame>
      <p:sp>
        <p:nvSpPr>
          <p:cNvPr id="7" name="">
            <a:extLst xmlns:a="http://schemas.openxmlformats.org/drawingml/2006/main">
              <a:ext uri="{FF2B5EF4-FFF2-40B4-BE49-F238E27FC236}">
                <a16:creationId xmlns:a16="http://schemas.microsoft.com/office/drawing/2014/main" id="{F9B22C41-584E-4647-B86B-A444C1947D20}"/>
              </a:ext>
            </a:extLst>
          </p:cNvPr>
          <p:cNvSpPr>
            <a:spLocks xmlns:a="http://schemas.openxmlformats.org/drawingml/2006/main" noGrp="1"/>
          </p:cNvSpPr>
          <p:nvPr/>
        </p:nvSpPr>
        <p:spPr>
          <a:xfrm xmlns:a="http://schemas.openxmlformats.org/drawingml/2006/main">
            <a:off x="8458200" y="1733550"/>
            <a:ext cx="2667000" cy="1123950"/>
          </a:xfrm>
          <a:prstGeom xmlns:a="http://schemas.openxmlformats.org/drawingml/2006/main" prst="roundRect">
            <a:avLst>
              <a:gd name="adj" fmla="val 15254"/>
            </a:avLst>
          </a:prstGeom>
          <a:solidFill xmlns:a="http://schemas.openxmlformats.org/drawingml/2006/main">
            <a:srgbClr val="FFF7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DDCA4A6-20D9-45B6-81CF-60941D7D5F21}"/>
              </a:ext>
            </a:extLst>
          </p:cNvPr>
          <p:cNvSpPr>
            <a:spLocks xmlns:a="http://schemas.openxmlformats.org/drawingml/2006/main" noGrp="1"/>
          </p:cNvSpPr>
          <p:nvPr/>
        </p:nvSpPr>
        <p:spPr>
          <a:xfrm xmlns:a="http://schemas.openxmlformats.org/drawingml/2006/main">
            <a:off x="8629650" y="1885950"/>
            <a:ext cx="2324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F385C"/>
                </a:solidFill>
                <a:latin typeface="Arial"/>
                <a:ea typeface="Arial"/>
                <a:cs typeface="Arial"/>
              </a:defRPr>
            </a:pPr>
            <a:r>
              <a:rPr sz="2550" b="1">
                <a:solidFill>
                  <a:srgbClr val="FF385C"/>
                </a:solidFill>
                <a:latin typeface="Arial"/>
                <a:ea typeface="Arial"/>
                <a:cs typeface="Arial"/>
              </a:rPr>
              <a:t>220.031</a:t>
            </a:r>
          </a:p>
        </p:txBody>
      </p:sp>
      <p:sp>
        <p:nvSpPr>
          <p:cNvPr id="9" name="">
            <a:extLst xmlns:a="http://schemas.openxmlformats.org/drawingml/2006/main">
              <a:ext uri="{FF2B5EF4-FFF2-40B4-BE49-F238E27FC236}">
                <a16:creationId xmlns:a16="http://schemas.microsoft.com/office/drawing/2014/main" id="{F2EA5223-89EA-47EC-8FF4-7F863713879F}"/>
              </a:ext>
            </a:extLst>
          </p:cNvPr>
          <p:cNvSpPr>
            <a:spLocks xmlns:a="http://schemas.openxmlformats.org/drawingml/2006/main" noGrp="1"/>
          </p:cNvSpPr>
          <p:nvPr/>
        </p:nvSpPr>
        <p:spPr>
          <a:xfrm xmlns:a="http://schemas.openxmlformats.org/drawingml/2006/main">
            <a:off x="8629650" y="24003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A6A6A"/>
                </a:solidFill>
                <a:latin typeface="Arial"/>
                <a:ea typeface="Arial"/>
                <a:cs typeface="Arial"/>
              </a:defRPr>
            </a:pPr>
            <a:r>
              <a:rPr sz="1125" b="0">
                <a:solidFill>
                  <a:srgbClr val="6A6A6A"/>
                </a:solidFill>
                <a:latin typeface="Arial"/>
                <a:ea typeface="Arial"/>
                <a:cs typeface="Arial"/>
              </a:rPr>
              <a:t>anuncios totales</a:t>
            </a:r>
          </a:p>
        </p:txBody>
      </p:sp>
      <p:sp>
        <p:nvSpPr>
          <p:cNvPr id="10" name="">
            <a:extLst xmlns:a="http://schemas.openxmlformats.org/drawingml/2006/main">
              <a:ext uri="{FF2B5EF4-FFF2-40B4-BE49-F238E27FC236}">
                <a16:creationId xmlns:a16="http://schemas.microsoft.com/office/drawing/2014/main" id="{FCFE4E7B-F226-44EC-B69F-87AC4BD13C49}"/>
              </a:ext>
            </a:extLst>
          </p:cNvPr>
          <p:cNvSpPr>
            <a:spLocks xmlns:a="http://schemas.openxmlformats.org/drawingml/2006/main" noGrp="1"/>
          </p:cNvSpPr>
          <p:nvPr/>
        </p:nvSpPr>
        <p:spPr>
          <a:xfrm xmlns:a="http://schemas.openxmlformats.org/drawingml/2006/main">
            <a:off x="8458200" y="3105150"/>
            <a:ext cx="2667000" cy="1123950"/>
          </a:xfrm>
          <a:prstGeom xmlns:a="http://schemas.openxmlformats.org/drawingml/2006/main" prst="roundRect">
            <a:avLst>
              <a:gd name="adj" fmla="val 15254"/>
            </a:avLst>
          </a:prstGeom>
          <a:solidFill xmlns:a="http://schemas.openxmlformats.org/drawingml/2006/main">
            <a:srgbClr val="FFF7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EB17040-DEAB-469A-86AF-6F708785F839}"/>
              </a:ext>
            </a:extLst>
          </p:cNvPr>
          <p:cNvSpPr>
            <a:spLocks xmlns:a="http://schemas.openxmlformats.org/drawingml/2006/main" noGrp="1"/>
          </p:cNvSpPr>
          <p:nvPr/>
        </p:nvSpPr>
        <p:spPr>
          <a:xfrm xmlns:a="http://schemas.openxmlformats.org/drawingml/2006/main">
            <a:off x="8629650" y="3257550"/>
            <a:ext cx="2324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00A699"/>
                </a:solidFill>
                <a:latin typeface="Arial"/>
                <a:ea typeface="Arial"/>
                <a:cs typeface="Arial"/>
              </a:defRPr>
            </a:pPr>
            <a:r>
              <a:rPr sz="2550" b="1">
                <a:solidFill>
                  <a:srgbClr val="00A699"/>
                </a:solidFill>
                <a:latin typeface="Arial"/>
                <a:ea typeface="Arial"/>
                <a:cs typeface="Arial"/>
              </a:rPr>
              <a:t>6</a:t>
            </a:r>
          </a:p>
        </p:txBody>
      </p:sp>
      <p:sp>
        <p:nvSpPr>
          <p:cNvPr id="12" name="">
            <a:extLst xmlns:a="http://schemas.openxmlformats.org/drawingml/2006/main">
              <a:ext uri="{FF2B5EF4-FFF2-40B4-BE49-F238E27FC236}">
                <a16:creationId xmlns:a16="http://schemas.microsoft.com/office/drawing/2014/main" id="{EF8F171B-6407-409F-A263-A01296A6E7AE}"/>
              </a:ext>
            </a:extLst>
          </p:cNvPr>
          <p:cNvSpPr>
            <a:spLocks xmlns:a="http://schemas.openxmlformats.org/drawingml/2006/main" noGrp="1"/>
          </p:cNvSpPr>
          <p:nvPr/>
        </p:nvSpPr>
        <p:spPr>
          <a:xfrm xmlns:a="http://schemas.openxmlformats.org/drawingml/2006/main">
            <a:off x="8629650" y="37719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A6A6A"/>
                </a:solidFill>
                <a:latin typeface="Arial"/>
                <a:ea typeface="Arial"/>
                <a:cs typeface="Arial"/>
              </a:defRPr>
            </a:pPr>
            <a:r>
              <a:rPr sz="1125" b="0">
                <a:solidFill>
                  <a:srgbClr val="6A6A6A"/>
                </a:solidFill>
                <a:latin typeface="Arial"/>
                <a:ea typeface="Arial"/>
                <a:cs typeface="Arial"/>
              </a:rPr>
              <a:t>archivos CSV / ciudades</a:t>
            </a:r>
          </a:p>
        </p:txBody>
      </p:sp>
      <p:sp>
        <p:nvSpPr>
          <p:cNvPr id="13" name="">
            <a:extLst xmlns:a="http://schemas.openxmlformats.org/drawingml/2006/main">
              <a:ext uri="{FF2B5EF4-FFF2-40B4-BE49-F238E27FC236}">
                <a16:creationId xmlns:a16="http://schemas.microsoft.com/office/drawing/2014/main" id="{E0B64200-A022-4DC6-82D0-8F4328B8CCDE}"/>
              </a:ext>
            </a:extLst>
          </p:cNvPr>
          <p:cNvSpPr>
            <a:spLocks xmlns:a="http://schemas.openxmlformats.org/drawingml/2006/main" noGrp="1"/>
          </p:cNvSpPr>
          <p:nvPr/>
        </p:nvSpPr>
        <p:spPr>
          <a:xfrm xmlns:a="http://schemas.openxmlformats.org/drawingml/2006/main">
            <a:off x="8458200" y="46291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A6A6A"/>
                </a:solidFill>
                <a:latin typeface="Arial"/>
                <a:ea typeface="Arial"/>
                <a:cs typeface="Arial"/>
              </a:defRPr>
            </a:pPr>
            <a:r>
              <a:rPr sz="1425" b="0">
                <a:solidFill>
                  <a:srgbClr val="6A6A6A"/>
                </a:solidFill>
                <a:latin typeface="Arial"/>
                <a:ea typeface="Arial"/>
                <a:cs typeface="Arial"/>
              </a:rPr>
              <a:t>La comparación entre ciudades conserva la ciudad de origen y no mezcla monedas.</a:t>
            </a:r>
          </a:p>
        </p:txBody>
      </p:sp>
    </p:spTree>
    <p:extLst>
      <p:ext uri="{BB962C8B-B14F-4D97-AF65-F5344CB8AC3E}">
        <p14:creationId xmlns:p14="http://schemas.microsoft.com/office/powerpoint/2010/main" val="17042165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C77B74C3-72C5-4191-8CA9-E39B6F75191E}"/>
              </a:ext>
            </a:extLst>
          </p:cNvPr>
          <p:cNvSpPr>
            <a:spLocks xmlns:a="http://schemas.openxmlformats.org/drawingml/2006/main" noGrp="1"/>
          </p:cNvSpPr>
          <p:nvPr/>
        </p:nvSpPr>
        <p:spPr>
          <a:xfrm xmlns:a="http://schemas.openxmlformats.org/drawingml/2006/main">
            <a:off x="609600" y="304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385C"/>
                </a:solidFill>
                <a:latin typeface="Arial"/>
                <a:ea typeface="Arial"/>
                <a:cs typeface="Arial"/>
              </a:defRPr>
            </a:pPr>
            <a:r>
              <a:rPr sz="975" b="1">
                <a:solidFill>
                  <a:srgbClr val="FF385C"/>
                </a:solidFill>
                <a:latin typeface="Arial"/>
                <a:ea typeface="Arial"/>
                <a:cs typeface="Arial"/>
              </a:rPr>
              <a:t>MÉTODO</a:t>
            </a:r>
          </a:p>
        </p:txBody>
      </p:sp>
      <p:sp>
        <p:nvSpPr>
          <p:cNvPr id="2" name="">
            <a:extLst xmlns:a="http://schemas.openxmlformats.org/drawingml/2006/main">
              <a:ext uri="{FF2B5EF4-FFF2-40B4-BE49-F238E27FC236}">
                <a16:creationId xmlns:a16="http://schemas.microsoft.com/office/drawing/2014/main" id="{9E910CE1-C6F1-4659-AE94-1067CCF25477}"/>
              </a:ext>
            </a:extLst>
          </p:cNvPr>
          <p:cNvSpPr>
            <a:spLocks xmlns:a="http://schemas.openxmlformats.org/drawingml/2006/main" noGrp="1"/>
          </p:cNvSpPr>
          <p:nvPr/>
        </p:nvSpPr>
        <p:spPr>
          <a:xfrm xmlns:a="http://schemas.openxmlformats.org/drawingml/2006/main">
            <a:off x="609600" y="5905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222222"/>
                </a:solidFill>
                <a:latin typeface="Arial"/>
                <a:ea typeface="Arial"/>
                <a:cs typeface="Arial"/>
              </a:defRPr>
            </a:pPr>
            <a:r>
              <a:rPr sz="2700" b="1">
                <a:solidFill>
                  <a:srgbClr val="222222"/>
                </a:solidFill>
                <a:latin typeface="Arial"/>
                <a:ea typeface="Arial"/>
                <a:cs typeface="Arial"/>
              </a:rPr>
              <a:t>Del inventario al dashboard sin alterar los archivos originales</a:t>
            </a:r>
          </a:p>
        </p:txBody>
      </p:sp>
      <p:sp>
        <p:nvSpPr>
          <p:cNvPr id="3" name="">
            <a:extLst xmlns:a="http://schemas.openxmlformats.org/drawingml/2006/main">
              <a:ext uri="{FF2B5EF4-FFF2-40B4-BE49-F238E27FC236}">
                <a16:creationId xmlns:a16="http://schemas.microsoft.com/office/drawing/2014/main" id="{89654050-8634-440B-9E7B-0391B437DF91}"/>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E6E6E6"/>
            </a:solidFill>
            <a:prstDash val="solid"/>
          </a:ln>
        </p:spPr>
      </p:sp>
      <p:sp>
        <p:nvSpPr>
          <p:cNvPr id="4" name="">
            <a:extLst xmlns:a="http://schemas.openxmlformats.org/drawingml/2006/main">
              <a:ext uri="{FF2B5EF4-FFF2-40B4-BE49-F238E27FC236}">
                <a16:creationId xmlns:a16="http://schemas.microsoft.com/office/drawing/2014/main" id="{42E93B42-AD5C-4EB7-93CA-9FAE50452DBB}"/>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A6A6A"/>
                </a:solidFill>
                <a:latin typeface="Arial"/>
                <a:ea typeface="Arial"/>
                <a:cs typeface="Arial"/>
              </a:defRPr>
            </a:pPr>
            <a:r>
              <a:rPr sz="825" b="0">
                <a:solidFill>
                  <a:srgbClr val="6A6A6A"/>
                </a:solidFill>
                <a:latin typeface="Arial"/>
                <a:ea typeface="Arial"/>
                <a:cs typeface="Arial"/>
              </a:rPr>
              <a:t>Proyecto educativo independiente · Datos de seis ciudades</a:t>
            </a:r>
          </a:p>
        </p:txBody>
      </p:sp>
      <p:sp>
        <p:nvSpPr>
          <p:cNvPr id="5" name="">
            <a:extLst xmlns:a="http://schemas.openxmlformats.org/drawingml/2006/main">
              <a:ext uri="{FF2B5EF4-FFF2-40B4-BE49-F238E27FC236}">
                <a16:creationId xmlns:a16="http://schemas.microsoft.com/office/drawing/2014/main" id="{1A92049B-6515-482E-ABC3-AD1F2571CC14}"/>
              </a:ext>
            </a:extLst>
          </p:cNvPr>
          <p:cNvSpPr>
            <a:spLocks xmlns:a="http://schemas.openxmlformats.org/drawingml/2006/main" noGrp="1"/>
          </p:cNvSpPr>
          <p:nvPr/>
        </p:nvSpPr>
        <p:spPr>
          <a:xfrm xmlns:a="http://schemas.openxmlformats.org/drawingml/2006/main">
            <a:off x="111252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6A6A6A"/>
                </a:solidFill>
                <a:latin typeface="Arial"/>
                <a:ea typeface="Arial"/>
                <a:cs typeface="Arial"/>
              </a:defRPr>
            </a:pPr>
            <a:r>
              <a:rPr sz="825" b="0">
                <a:solidFill>
                  <a:srgbClr val="6A6A6A"/>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21E86B32-94C0-4D33-A922-C7606575AE68}"/>
              </a:ext>
            </a:extLst>
          </p:cNvPr>
          <p:cNvSpPr>
            <a:spLocks xmlns:a="http://schemas.openxmlformats.org/drawingml/2006/main" noGrp="1"/>
          </p:cNvSpPr>
          <p:nvPr/>
        </p:nvSpPr>
        <p:spPr>
          <a:xfrm xmlns:a="http://schemas.openxmlformats.org/drawingml/2006/main">
            <a:off x="628650" y="1943100"/>
            <a:ext cx="1638300" cy="2095500"/>
          </a:xfrm>
          <a:prstGeom xmlns:a="http://schemas.openxmlformats.org/drawingml/2006/main" prst="roundRect">
            <a:avLst>
              <a:gd name="adj" fmla="val 12791"/>
            </a:avLst>
          </a:prstGeom>
          <a:solidFill xmlns:a="http://schemas.openxmlformats.org/drawingml/2006/main">
            <a:srgbClr val="F7F7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AF3D1CB-ACF1-4535-B2C7-F1524DD838CB}"/>
              </a:ext>
            </a:extLst>
          </p:cNvPr>
          <p:cNvSpPr>
            <a:spLocks xmlns:a="http://schemas.openxmlformats.org/drawingml/2006/main" noGrp="1"/>
          </p:cNvSpPr>
          <p:nvPr/>
        </p:nvSpPr>
        <p:spPr>
          <a:xfrm xmlns:a="http://schemas.openxmlformats.org/drawingml/2006/main">
            <a:off x="1162050" y="21526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00A699"/>
                </a:solidFill>
                <a:latin typeface="Arial"/>
                <a:ea typeface="Arial"/>
                <a:cs typeface="Arial"/>
              </a:defRPr>
            </a:pPr>
            <a:r>
              <a:rPr sz="2850" b="1">
                <a:solidFill>
                  <a:srgbClr val="00A699"/>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205CE87B-4E15-44EC-92C4-D5E01B180BDE}"/>
              </a:ext>
            </a:extLst>
          </p:cNvPr>
          <p:cNvSpPr>
            <a:spLocks xmlns:a="http://schemas.openxmlformats.org/drawingml/2006/main" noGrp="1"/>
          </p:cNvSpPr>
          <p:nvPr/>
        </p:nvSpPr>
        <p:spPr>
          <a:xfrm xmlns:a="http://schemas.openxmlformats.org/drawingml/2006/main">
            <a:off x="781050" y="289560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22222"/>
                </a:solidFill>
                <a:latin typeface="Arial"/>
                <a:ea typeface="Arial"/>
                <a:cs typeface="Arial"/>
              </a:defRPr>
            </a:pPr>
            <a:r>
              <a:rPr sz="1650" b="1">
                <a:solidFill>
                  <a:srgbClr val="222222"/>
                </a:solidFill>
                <a:latin typeface="Arial"/>
                <a:ea typeface="Arial"/>
                <a:cs typeface="Arial"/>
              </a:rPr>
              <a:t>Inventario</a:t>
            </a:r>
          </a:p>
        </p:txBody>
      </p:sp>
      <p:sp>
        <p:nvSpPr>
          <p:cNvPr id="9" name="">
            <a:extLst xmlns:a="http://schemas.openxmlformats.org/drawingml/2006/main">
              <a:ext uri="{FF2B5EF4-FFF2-40B4-BE49-F238E27FC236}">
                <a16:creationId xmlns:a16="http://schemas.microsoft.com/office/drawing/2014/main" id="{1EE9472F-2A72-4C77-941A-7B2E19BFA97F}"/>
              </a:ext>
            </a:extLst>
          </p:cNvPr>
          <p:cNvSpPr>
            <a:spLocks xmlns:a="http://schemas.openxmlformats.org/drawingml/2006/main" noGrp="1"/>
          </p:cNvSpPr>
          <p:nvPr/>
        </p:nvSpPr>
        <p:spPr>
          <a:xfrm xmlns:a="http://schemas.openxmlformats.org/drawingml/2006/main">
            <a:off x="781050" y="3333750"/>
            <a:ext cx="133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A6A6A"/>
                </a:solidFill>
                <a:latin typeface="Arial"/>
                <a:ea typeface="Arial"/>
                <a:cs typeface="Arial"/>
              </a:defRPr>
            </a:pPr>
            <a:r>
              <a:rPr sz="1125" b="0">
                <a:solidFill>
                  <a:srgbClr val="6A6A6A"/>
                </a:solidFill>
                <a:latin typeface="Arial"/>
                <a:ea typeface="Arial"/>
                <a:cs typeface="Arial"/>
              </a:rPr>
              <a:t>Estructura y esquemas</a:t>
            </a:r>
          </a:p>
        </p:txBody>
      </p:sp>
      <p:sp>
        <p:nvSpPr>
          <p:cNvPr id="10" name="">
            <a:extLst xmlns:a="http://schemas.openxmlformats.org/drawingml/2006/main">
              <a:ext uri="{FF2B5EF4-FFF2-40B4-BE49-F238E27FC236}">
                <a16:creationId xmlns:a16="http://schemas.microsoft.com/office/drawing/2014/main" id="{86C69E0D-5B17-4159-AC34-4B279A535B2B}"/>
              </a:ext>
            </a:extLst>
          </p:cNvPr>
          <p:cNvSpPr>
            <a:spLocks xmlns:a="http://schemas.openxmlformats.org/drawingml/2006/main" noGrp="1"/>
          </p:cNvSpPr>
          <p:nvPr/>
        </p:nvSpPr>
        <p:spPr>
          <a:xfrm xmlns:a="http://schemas.openxmlformats.org/drawingml/2006/main">
            <a:off x="2343150" y="2990850"/>
            <a:ext cx="495300" cy="0"/>
          </a:xfrm>
          <a:prstGeom xmlns:a="http://schemas.openxmlformats.org/drawingml/2006/main" prst="line">
            <a:avLst/>
          </a:prstGeom>
          <a:noFill xmlns:a="http://schemas.openxmlformats.org/drawingml/2006/main"/>
          <a:ln xmlns:a="http://schemas.openxmlformats.org/drawingml/2006/main" w="28575">
            <a:solidFill>
              <a:srgbClr val="FF385C"/>
            </a:solidFill>
            <a:prstDash val="solid"/>
          </a:ln>
        </p:spPr>
      </p:sp>
      <p:sp>
        <p:nvSpPr>
          <p:cNvPr id="11" name="">
            <a:extLst xmlns:a="http://schemas.openxmlformats.org/drawingml/2006/main">
              <a:ext uri="{FF2B5EF4-FFF2-40B4-BE49-F238E27FC236}">
                <a16:creationId xmlns:a16="http://schemas.microsoft.com/office/drawing/2014/main" id="{FC582C8B-AF92-4858-9073-5D85A982CB47}"/>
              </a:ext>
            </a:extLst>
          </p:cNvPr>
          <p:cNvSpPr>
            <a:spLocks xmlns:a="http://schemas.openxmlformats.org/drawingml/2006/main" noGrp="1"/>
          </p:cNvSpPr>
          <p:nvPr/>
        </p:nvSpPr>
        <p:spPr>
          <a:xfrm xmlns:a="http://schemas.openxmlformats.org/drawingml/2006/main">
            <a:off x="2952750" y="1943100"/>
            <a:ext cx="1638300" cy="2095500"/>
          </a:xfrm>
          <a:prstGeom xmlns:a="http://schemas.openxmlformats.org/drawingml/2006/main" prst="roundRect">
            <a:avLst>
              <a:gd name="adj" fmla="val 12791"/>
            </a:avLst>
          </a:prstGeom>
          <a:solidFill xmlns:a="http://schemas.openxmlformats.org/drawingml/2006/main">
            <a:srgbClr val="F7F7F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85757E-A073-4631-857C-37613FAE05D9}"/>
              </a:ext>
            </a:extLst>
          </p:cNvPr>
          <p:cNvSpPr>
            <a:spLocks xmlns:a="http://schemas.openxmlformats.org/drawingml/2006/main" noGrp="1"/>
          </p:cNvSpPr>
          <p:nvPr/>
        </p:nvSpPr>
        <p:spPr>
          <a:xfrm xmlns:a="http://schemas.openxmlformats.org/drawingml/2006/main">
            <a:off x="3486150" y="21526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00A699"/>
                </a:solidFill>
                <a:latin typeface="Arial"/>
                <a:ea typeface="Arial"/>
                <a:cs typeface="Arial"/>
              </a:defRPr>
            </a:pPr>
            <a:r>
              <a:rPr sz="2850" b="1">
                <a:solidFill>
                  <a:srgbClr val="00A699"/>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787E095D-91C9-471B-8C17-9427425AE203}"/>
              </a:ext>
            </a:extLst>
          </p:cNvPr>
          <p:cNvSpPr>
            <a:spLocks xmlns:a="http://schemas.openxmlformats.org/drawingml/2006/main" noGrp="1"/>
          </p:cNvSpPr>
          <p:nvPr/>
        </p:nvSpPr>
        <p:spPr>
          <a:xfrm xmlns:a="http://schemas.openxmlformats.org/drawingml/2006/main">
            <a:off x="3105150" y="289560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22222"/>
                </a:solidFill>
                <a:latin typeface="Arial"/>
                <a:ea typeface="Arial"/>
                <a:cs typeface="Arial"/>
              </a:defRPr>
            </a:pPr>
            <a:r>
              <a:rPr sz="1650" b="1">
                <a:solidFill>
                  <a:srgbClr val="222222"/>
                </a:solidFill>
                <a:latin typeface="Arial"/>
                <a:ea typeface="Arial"/>
                <a:cs typeface="Arial"/>
              </a:rPr>
              <a:t>Calidad</a:t>
            </a:r>
          </a:p>
        </p:txBody>
      </p:sp>
      <p:sp>
        <p:nvSpPr>
          <p:cNvPr id="14" name="">
            <a:extLst xmlns:a="http://schemas.openxmlformats.org/drawingml/2006/main">
              <a:ext uri="{FF2B5EF4-FFF2-40B4-BE49-F238E27FC236}">
                <a16:creationId xmlns:a16="http://schemas.microsoft.com/office/drawing/2014/main" id="{0E5F8D63-E5E5-4E20-83EB-A76622455C0A}"/>
              </a:ext>
            </a:extLst>
          </p:cNvPr>
          <p:cNvSpPr>
            <a:spLocks xmlns:a="http://schemas.openxmlformats.org/drawingml/2006/main" noGrp="1"/>
          </p:cNvSpPr>
          <p:nvPr/>
        </p:nvSpPr>
        <p:spPr>
          <a:xfrm xmlns:a="http://schemas.openxmlformats.org/drawingml/2006/main">
            <a:off x="3105150" y="3333750"/>
            <a:ext cx="133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A6A6A"/>
                </a:solidFill>
                <a:latin typeface="Arial"/>
                <a:ea typeface="Arial"/>
                <a:cs typeface="Arial"/>
              </a:defRPr>
            </a:pPr>
            <a:r>
              <a:rPr sz="1125" b="0">
                <a:solidFill>
                  <a:srgbClr val="6A6A6A"/>
                </a:solidFill>
                <a:latin typeface="Arial"/>
                <a:ea typeface="Arial"/>
                <a:cs typeface="Arial"/>
              </a:rPr>
              <a:t>59 controles</a:t>
            </a:r>
          </a:p>
        </p:txBody>
      </p:sp>
      <p:sp>
        <p:nvSpPr>
          <p:cNvPr id="15" name="">
            <a:extLst xmlns:a="http://schemas.openxmlformats.org/drawingml/2006/main">
              <a:ext uri="{FF2B5EF4-FFF2-40B4-BE49-F238E27FC236}">
                <a16:creationId xmlns:a16="http://schemas.microsoft.com/office/drawing/2014/main" id="{D2B254FC-36CE-4A05-97BE-B4135C5E1AFB}"/>
              </a:ext>
            </a:extLst>
          </p:cNvPr>
          <p:cNvSpPr>
            <a:spLocks xmlns:a="http://schemas.openxmlformats.org/drawingml/2006/main" noGrp="1"/>
          </p:cNvSpPr>
          <p:nvPr/>
        </p:nvSpPr>
        <p:spPr>
          <a:xfrm xmlns:a="http://schemas.openxmlformats.org/drawingml/2006/main">
            <a:off x="4667250" y="2990850"/>
            <a:ext cx="495300" cy="0"/>
          </a:xfrm>
          <a:prstGeom xmlns:a="http://schemas.openxmlformats.org/drawingml/2006/main" prst="line">
            <a:avLst/>
          </a:prstGeom>
          <a:noFill xmlns:a="http://schemas.openxmlformats.org/drawingml/2006/main"/>
          <a:ln xmlns:a="http://schemas.openxmlformats.org/drawingml/2006/main" w="28575">
            <a:solidFill>
              <a:srgbClr val="FF385C"/>
            </a:solidFill>
            <a:prstDash val="solid"/>
          </a:ln>
        </p:spPr>
      </p:sp>
      <p:sp>
        <p:nvSpPr>
          <p:cNvPr id="16" name="">
            <a:extLst xmlns:a="http://schemas.openxmlformats.org/drawingml/2006/main">
              <a:ext uri="{FF2B5EF4-FFF2-40B4-BE49-F238E27FC236}">
                <a16:creationId xmlns:a16="http://schemas.microsoft.com/office/drawing/2014/main" id="{DF901F7E-2754-4364-AAE7-5AF1B1EF3516}"/>
              </a:ext>
            </a:extLst>
          </p:cNvPr>
          <p:cNvSpPr>
            <a:spLocks xmlns:a="http://schemas.openxmlformats.org/drawingml/2006/main" noGrp="1"/>
          </p:cNvSpPr>
          <p:nvPr/>
        </p:nvSpPr>
        <p:spPr>
          <a:xfrm xmlns:a="http://schemas.openxmlformats.org/drawingml/2006/main">
            <a:off x="5276850" y="1943100"/>
            <a:ext cx="1638300" cy="2095500"/>
          </a:xfrm>
          <a:prstGeom xmlns:a="http://schemas.openxmlformats.org/drawingml/2006/main" prst="roundRect">
            <a:avLst>
              <a:gd name="adj" fmla="val 12791"/>
            </a:avLst>
          </a:prstGeom>
          <a:solidFill xmlns:a="http://schemas.openxmlformats.org/drawingml/2006/main">
            <a:srgbClr val="F7F7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3FACEC6-2458-4AC6-8FFB-544A40BF3055}"/>
              </a:ext>
            </a:extLst>
          </p:cNvPr>
          <p:cNvSpPr>
            <a:spLocks xmlns:a="http://schemas.openxmlformats.org/drawingml/2006/main" noGrp="1"/>
          </p:cNvSpPr>
          <p:nvPr/>
        </p:nvSpPr>
        <p:spPr>
          <a:xfrm xmlns:a="http://schemas.openxmlformats.org/drawingml/2006/main">
            <a:off x="5810250" y="21526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00A699"/>
                </a:solidFill>
                <a:latin typeface="Arial"/>
                <a:ea typeface="Arial"/>
                <a:cs typeface="Arial"/>
              </a:defRPr>
            </a:pPr>
            <a:r>
              <a:rPr sz="2850" b="1">
                <a:solidFill>
                  <a:srgbClr val="00A699"/>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08E89F01-C930-4FB0-BD50-9A802732C92F}"/>
              </a:ext>
            </a:extLst>
          </p:cNvPr>
          <p:cNvSpPr>
            <a:spLocks xmlns:a="http://schemas.openxmlformats.org/drawingml/2006/main" noGrp="1"/>
          </p:cNvSpPr>
          <p:nvPr/>
        </p:nvSpPr>
        <p:spPr>
          <a:xfrm xmlns:a="http://schemas.openxmlformats.org/drawingml/2006/main">
            <a:off x="5429250" y="289560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22222"/>
                </a:solidFill>
                <a:latin typeface="Arial"/>
                <a:ea typeface="Arial"/>
                <a:cs typeface="Arial"/>
              </a:defRPr>
            </a:pPr>
            <a:r>
              <a:rPr sz="1650" b="1">
                <a:solidFill>
                  <a:srgbClr val="222222"/>
                </a:solidFill>
                <a:latin typeface="Arial"/>
                <a:ea typeface="Arial"/>
                <a:cs typeface="Arial"/>
              </a:rPr>
              <a:t>EDA</a:t>
            </a:r>
          </a:p>
        </p:txBody>
      </p:sp>
      <p:sp>
        <p:nvSpPr>
          <p:cNvPr id="19" name="">
            <a:extLst xmlns:a="http://schemas.openxmlformats.org/drawingml/2006/main">
              <a:ext uri="{FF2B5EF4-FFF2-40B4-BE49-F238E27FC236}">
                <a16:creationId xmlns:a16="http://schemas.microsoft.com/office/drawing/2014/main" id="{D8539B11-719D-4341-9CDD-270941EB570E}"/>
              </a:ext>
            </a:extLst>
          </p:cNvPr>
          <p:cNvSpPr>
            <a:spLocks xmlns:a="http://schemas.openxmlformats.org/drawingml/2006/main" noGrp="1"/>
          </p:cNvSpPr>
          <p:nvPr/>
        </p:nvSpPr>
        <p:spPr>
          <a:xfrm xmlns:a="http://schemas.openxmlformats.org/drawingml/2006/main">
            <a:off x="5429250" y="3333750"/>
            <a:ext cx="133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A6A6A"/>
                </a:solidFill>
                <a:latin typeface="Arial"/>
                <a:ea typeface="Arial"/>
                <a:cs typeface="Arial"/>
              </a:defRPr>
            </a:pPr>
            <a:r>
              <a:rPr sz="1125" b="0">
                <a:solidFill>
                  <a:srgbClr val="6A6A6A"/>
                </a:solidFill>
                <a:latin typeface="Arial"/>
                <a:ea typeface="Arial"/>
                <a:cs typeface="Arial"/>
              </a:rPr>
              <a:t>Distribuciones y segmentos</a:t>
            </a:r>
          </a:p>
        </p:txBody>
      </p:sp>
      <p:sp>
        <p:nvSpPr>
          <p:cNvPr id="20" name="">
            <a:extLst xmlns:a="http://schemas.openxmlformats.org/drawingml/2006/main">
              <a:ext uri="{FF2B5EF4-FFF2-40B4-BE49-F238E27FC236}">
                <a16:creationId xmlns:a16="http://schemas.microsoft.com/office/drawing/2014/main" id="{319C4B4F-FC5C-418C-B1A8-955A35E9537E}"/>
              </a:ext>
            </a:extLst>
          </p:cNvPr>
          <p:cNvSpPr>
            <a:spLocks xmlns:a="http://schemas.openxmlformats.org/drawingml/2006/main" noGrp="1"/>
          </p:cNvSpPr>
          <p:nvPr/>
        </p:nvSpPr>
        <p:spPr>
          <a:xfrm xmlns:a="http://schemas.openxmlformats.org/drawingml/2006/main">
            <a:off x="6991350" y="2990850"/>
            <a:ext cx="495300" cy="0"/>
          </a:xfrm>
          <a:prstGeom xmlns:a="http://schemas.openxmlformats.org/drawingml/2006/main" prst="line">
            <a:avLst/>
          </a:prstGeom>
          <a:noFill xmlns:a="http://schemas.openxmlformats.org/drawingml/2006/main"/>
          <a:ln xmlns:a="http://schemas.openxmlformats.org/drawingml/2006/main" w="28575">
            <a:solidFill>
              <a:srgbClr val="FF385C"/>
            </a:solidFill>
            <a:prstDash val="solid"/>
          </a:ln>
        </p:spPr>
      </p:sp>
      <p:sp>
        <p:nvSpPr>
          <p:cNvPr id="21" name="">
            <a:extLst xmlns:a="http://schemas.openxmlformats.org/drawingml/2006/main">
              <a:ext uri="{FF2B5EF4-FFF2-40B4-BE49-F238E27FC236}">
                <a16:creationId xmlns:a16="http://schemas.microsoft.com/office/drawing/2014/main" id="{C74C6431-5790-4A49-A1A5-1EC7112DD08B}"/>
              </a:ext>
            </a:extLst>
          </p:cNvPr>
          <p:cNvSpPr>
            <a:spLocks xmlns:a="http://schemas.openxmlformats.org/drawingml/2006/main" noGrp="1"/>
          </p:cNvSpPr>
          <p:nvPr/>
        </p:nvSpPr>
        <p:spPr>
          <a:xfrm xmlns:a="http://schemas.openxmlformats.org/drawingml/2006/main">
            <a:off x="7600950" y="1943100"/>
            <a:ext cx="1638300" cy="2095500"/>
          </a:xfrm>
          <a:prstGeom xmlns:a="http://schemas.openxmlformats.org/drawingml/2006/main" prst="roundRect">
            <a:avLst>
              <a:gd name="adj" fmla="val 12791"/>
            </a:avLst>
          </a:prstGeom>
          <a:solidFill xmlns:a="http://schemas.openxmlformats.org/drawingml/2006/main">
            <a:srgbClr val="F7F7F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7D8E27D-772C-4042-BD16-38956BB16BEB}"/>
              </a:ext>
            </a:extLst>
          </p:cNvPr>
          <p:cNvSpPr>
            <a:spLocks xmlns:a="http://schemas.openxmlformats.org/drawingml/2006/main" noGrp="1"/>
          </p:cNvSpPr>
          <p:nvPr/>
        </p:nvSpPr>
        <p:spPr>
          <a:xfrm xmlns:a="http://schemas.openxmlformats.org/drawingml/2006/main">
            <a:off x="8134350" y="21526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00A699"/>
                </a:solidFill>
                <a:latin typeface="Arial"/>
                <a:ea typeface="Arial"/>
                <a:cs typeface="Arial"/>
              </a:defRPr>
            </a:pPr>
            <a:r>
              <a:rPr sz="2850" b="1">
                <a:solidFill>
                  <a:srgbClr val="00A699"/>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BAF36C41-42EC-4A0D-AD4D-7B90DBA2F39A}"/>
              </a:ext>
            </a:extLst>
          </p:cNvPr>
          <p:cNvSpPr>
            <a:spLocks xmlns:a="http://schemas.openxmlformats.org/drawingml/2006/main" noGrp="1"/>
          </p:cNvSpPr>
          <p:nvPr/>
        </p:nvSpPr>
        <p:spPr>
          <a:xfrm xmlns:a="http://schemas.openxmlformats.org/drawingml/2006/main">
            <a:off x="7753350" y="289560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22222"/>
                </a:solidFill>
                <a:latin typeface="Arial"/>
                <a:ea typeface="Arial"/>
                <a:cs typeface="Arial"/>
              </a:defRPr>
            </a:pPr>
            <a:r>
              <a:rPr sz="1650" b="1">
                <a:solidFill>
                  <a:srgbClr val="222222"/>
                </a:solidFill>
                <a:latin typeface="Arial"/>
                <a:ea typeface="Arial"/>
                <a:cs typeface="Arial"/>
              </a:rPr>
              <a:t>Contrastes</a:t>
            </a:r>
          </a:p>
        </p:txBody>
      </p:sp>
      <p:sp>
        <p:nvSpPr>
          <p:cNvPr id="24" name="">
            <a:extLst xmlns:a="http://schemas.openxmlformats.org/drawingml/2006/main">
              <a:ext uri="{FF2B5EF4-FFF2-40B4-BE49-F238E27FC236}">
                <a16:creationId xmlns:a16="http://schemas.microsoft.com/office/drawing/2014/main" id="{8D10EC2A-D2B9-4643-8C9D-7C784209F31E}"/>
              </a:ext>
            </a:extLst>
          </p:cNvPr>
          <p:cNvSpPr>
            <a:spLocks xmlns:a="http://schemas.openxmlformats.org/drawingml/2006/main" noGrp="1"/>
          </p:cNvSpPr>
          <p:nvPr/>
        </p:nvSpPr>
        <p:spPr>
          <a:xfrm xmlns:a="http://schemas.openxmlformats.org/drawingml/2006/main">
            <a:off x="7753350" y="3333750"/>
            <a:ext cx="133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A6A6A"/>
                </a:solidFill>
                <a:latin typeface="Arial"/>
                <a:ea typeface="Arial"/>
                <a:cs typeface="Arial"/>
              </a:defRPr>
            </a:pPr>
            <a:r>
              <a:rPr sz="1125" b="0">
                <a:solidFill>
                  <a:srgbClr val="6A6A6A"/>
                </a:solidFill>
                <a:latin typeface="Arial"/>
                <a:ea typeface="Arial"/>
                <a:cs typeface="Arial"/>
              </a:rPr>
              <a:t>Chi-cuadrado y Mann-Whitney</a:t>
            </a:r>
          </a:p>
        </p:txBody>
      </p:sp>
      <p:sp>
        <p:nvSpPr>
          <p:cNvPr id="25" name="">
            <a:extLst xmlns:a="http://schemas.openxmlformats.org/drawingml/2006/main">
              <a:ext uri="{FF2B5EF4-FFF2-40B4-BE49-F238E27FC236}">
                <a16:creationId xmlns:a16="http://schemas.microsoft.com/office/drawing/2014/main" id="{E8530209-E83F-4F20-80B5-04D960B23B25}"/>
              </a:ext>
            </a:extLst>
          </p:cNvPr>
          <p:cNvSpPr>
            <a:spLocks xmlns:a="http://schemas.openxmlformats.org/drawingml/2006/main" noGrp="1"/>
          </p:cNvSpPr>
          <p:nvPr/>
        </p:nvSpPr>
        <p:spPr>
          <a:xfrm xmlns:a="http://schemas.openxmlformats.org/drawingml/2006/main">
            <a:off x="9315450" y="2990850"/>
            <a:ext cx="495300" cy="0"/>
          </a:xfrm>
          <a:prstGeom xmlns:a="http://schemas.openxmlformats.org/drawingml/2006/main" prst="line">
            <a:avLst/>
          </a:prstGeom>
          <a:noFill xmlns:a="http://schemas.openxmlformats.org/drawingml/2006/main"/>
          <a:ln xmlns:a="http://schemas.openxmlformats.org/drawingml/2006/main" w="28575">
            <a:solidFill>
              <a:srgbClr val="FF385C"/>
            </a:solidFill>
            <a:prstDash val="solid"/>
          </a:ln>
        </p:spPr>
      </p:sp>
      <p:sp>
        <p:nvSpPr>
          <p:cNvPr id="26" name="">
            <a:extLst xmlns:a="http://schemas.openxmlformats.org/drawingml/2006/main">
              <a:ext uri="{FF2B5EF4-FFF2-40B4-BE49-F238E27FC236}">
                <a16:creationId xmlns:a16="http://schemas.microsoft.com/office/drawing/2014/main" id="{4ADD84BF-BDFC-493C-84D0-44C61600D53C}"/>
              </a:ext>
            </a:extLst>
          </p:cNvPr>
          <p:cNvSpPr>
            <a:spLocks xmlns:a="http://schemas.openxmlformats.org/drawingml/2006/main" noGrp="1"/>
          </p:cNvSpPr>
          <p:nvPr/>
        </p:nvSpPr>
        <p:spPr>
          <a:xfrm xmlns:a="http://schemas.openxmlformats.org/drawingml/2006/main">
            <a:off x="9925050" y="1943100"/>
            <a:ext cx="1638300" cy="2095500"/>
          </a:xfrm>
          <a:prstGeom xmlns:a="http://schemas.openxmlformats.org/drawingml/2006/main" prst="roundRect">
            <a:avLst>
              <a:gd name="adj" fmla="val 12791"/>
            </a:avLst>
          </a:prstGeom>
          <a:solidFill xmlns:a="http://schemas.openxmlformats.org/drawingml/2006/main">
            <a:srgbClr val="FFF7F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377E7A0-28C2-4310-87F5-41F71A0DA501}"/>
              </a:ext>
            </a:extLst>
          </p:cNvPr>
          <p:cNvSpPr>
            <a:spLocks xmlns:a="http://schemas.openxmlformats.org/drawingml/2006/main" noGrp="1"/>
          </p:cNvSpPr>
          <p:nvPr/>
        </p:nvSpPr>
        <p:spPr>
          <a:xfrm xmlns:a="http://schemas.openxmlformats.org/drawingml/2006/main">
            <a:off x="10458450" y="21526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FF385C"/>
                </a:solidFill>
                <a:latin typeface="Arial"/>
                <a:ea typeface="Arial"/>
                <a:cs typeface="Arial"/>
              </a:defRPr>
            </a:pPr>
            <a:r>
              <a:rPr sz="2850" b="1">
                <a:solidFill>
                  <a:srgbClr val="FF385C"/>
                </a:solidFill>
                <a:latin typeface="Arial"/>
                <a:ea typeface="Arial"/>
                <a:cs typeface="Arial"/>
              </a:rPr>
              <a:t>5</a:t>
            </a:r>
          </a:p>
        </p:txBody>
      </p:sp>
      <p:sp>
        <p:nvSpPr>
          <p:cNvPr id="28" name="">
            <a:extLst xmlns:a="http://schemas.openxmlformats.org/drawingml/2006/main">
              <a:ext uri="{FF2B5EF4-FFF2-40B4-BE49-F238E27FC236}">
                <a16:creationId xmlns:a16="http://schemas.microsoft.com/office/drawing/2014/main" id="{FEC0D758-73CF-42F7-B638-FDAAA0E7F71B}"/>
              </a:ext>
            </a:extLst>
          </p:cNvPr>
          <p:cNvSpPr>
            <a:spLocks xmlns:a="http://schemas.openxmlformats.org/drawingml/2006/main" noGrp="1"/>
          </p:cNvSpPr>
          <p:nvPr/>
        </p:nvSpPr>
        <p:spPr>
          <a:xfrm xmlns:a="http://schemas.openxmlformats.org/drawingml/2006/main">
            <a:off x="10077450" y="289560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22222"/>
                </a:solidFill>
                <a:latin typeface="Arial"/>
                <a:ea typeface="Arial"/>
                <a:cs typeface="Arial"/>
              </a:defRPr>
            </a:pPr>
            <a:r>
              <a:rPr sz="1650" b="1">
                <a:solidFill>
                  <a:srgbClr val="222222"/>
                </a:solidFill>
                <a:latin typeface="Arial"/>
                <a:ea typeface="Arial"/>
                <a:cs typeface="Arial"/>
              </a:rPr>
              <a:t>Producto</a:t>
            </a:r>
          </a:p>
        </p:txBody>
      </p:sp>
      <p:sp>
        <p:nvSpPr>
          <p:cNvPr id="29" name="">
            <a:extLst xmlns:a="http://schemas.openxmlformats.org/drawingml/2006/main">
              <a:ext uri="{FF2B5EF4-FFF2-40B4-BE49-F238E27FC236}">
                <a16:creationId xmlns:a16="http://schemas.microsoft.com/office/drawing/2014/main" id="{197C6920-C8F2-424C-A7EC-AB7F711A3CAC}"/>
              </a:ext>
            </a:extLst>
          </p:cNvPr>
          <p:cNvSpPr>
            <a:spLocks xmlns:a="http://schemas.openxmlformats.org/drawingml/2006/main" noGrp="1"/>
          </p:cNvSpPr>
          <p:nvPr/>
        </p:nvSpPr>
        <p:spPr>
          <a:xfrm xmlns:a="http://schemas.openxmlformats.org/drawingml/2006/main">
            <a:off x="10077450" y="3333750"/>
            <a:ext cx="133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A6A6A"/>
                </a:solidFill>
                <a:latin typeface="Arial"/>
                <a:ea typeface="Arial"/>
                <a:cs typeface="Arial"/>
              </a:defRPr>
            </a:pPr>
            <a:r>
              <a:rPr sz="1125" b="0">
                <a:solidFill>
                  <a:srgbClr val="6A6A6A"/>
                </a:solidFill>
                <a:latin typeface="Arial"/>
                <a:ea typeface="Arial"/>
                <a:cs typeface="Arial"/>
              </a:rPr>
              <a:t>Power BI, Dash y Docker</a:t>
            </a:r>
          </a:p>
        </p:txBody>
      </p:sp>
      <p:sp>
        <p:nvSpPr>
          <p:cNvPr id="30" name="">
            <a:extLst xmlns:a="http://schemas.openxmlformats.org/drawingml/2006/main">
              <a:ext uri="{FF2B5EF4-FFF2-40B4-BE49-F238E27FC236}">
                <a16:creationId xmlns:a16="http://schemas.microsoft.com/office/drawing/2014/main" id="{119AB363-4770-4EFF-9BCC-75B5C73195B7}"/>
              </a:ext>
            </a:extLst>
          </p:cNvPr>
          <p:cNvSpPr>
            <a:spLocks xmlns:a="http://schemas.openxmlformats.org/drawingml/2006/main" noGrp="1"/>
          </p:cNvSpPr>
          <p:nvPr/>
        </p:nvSpPr>
        <p:spPr>
          <a:xfrm xmlns:a="http://schemas.openxmlformats.org/drawingml/2006/main">
            <a:off x="2381250" y="4762500"/>
            <a:ext cx="2190750" cy="1123950"/>
          </a:xfrm>
          <a:prstGeom xmlns:a="http://schemas.openxmlformats.org/drawingml/2006/main" prst="roundRect">
            <a:avLst>
              <a:gd name="adj" fmla="val 15254"/>
            </a:avLst>
          </a:prstGeom>
          <a:solidFill xmlns:a="http://schemas.openxmlformats.org/drawingml/2006/main">
            <a:srgbClr val="FFF7F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EBD3311-56E4-48F7-946E-E7E6A6E42446}"/>
              </a:ext>
            </a:extLst>
          </p:cNvPr>
          <p:cNvSpPr>
            <a:spLocks xmlns:a="http://schemas.openxmlformats.org/drawingml/2006/main" noGrp="1"/>
          </p:cNvSpPr>
          <p:nvPr/>
        </p:nvSpPr>
        <p:spPr>
          <a:xfrm xmlns:a="http://schemas.openxmlformats.org/drawingml/2006/main">
            <a:off x="2552700" y="4914900"/>
            <a:ext cx="1847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059669"/>
                </a:solidFill>
                <a:latin typeface="Arial"/>
                <a:ea typeface="Arial"/>
                <a:cs typeface="Arial"/>
              </a:defRPr>
            </a:pPr>
            <a:r>
              <a:rPr sz="2550" b="1">
                <a:solidFill>
                  <a:srgbClr val="059669"/>
                </a:solidFill>
                <a:latin typeface="Arial"/>
                <a:ea typeface="Arial"/>
                <a:cs typeface="Arial"/>
              </a:rPr>
              <a:t>42</a:t>
            </a:r>
          </a:p>
        </p:txBody>
      </p:sp>
      <p:sp>
        <p:nvSpPr>
          <p:cNvPr id="32" name="">
            <a:extLst xmlns:a="http://schemas.openxmlformats.org/drawingml/2006/main">
              <a:ext uri="{FF2B5EF4-FFF2-40B4-BE49-F238E27FC236}">
                <a16:creationId xmlns:a16="http://schemas.microsoft.com/office/drawing/2014/main" id="{5D185D52-A2A6-4DBC-A79E-D0FA1947970E}"/>
              </a:ext>
            </a:extLst>
          </p:cNvPr>
          <p:cNvSpPr>
            <a:spLocks xmlns:a="http://schemas.openxmlformats.org/drawingml/2006/main" noGrp="1"/>
          </p:cNvSpPr>
          <p:nvPr/>
        </p:nvSpPr>
        <p:spPr>
          <a:xfrm xmlns:a="http://schemas.openxmlformats.org/drawingml/2006/main">
            <a:off x="2552700" y="5429250"/>
            <a:ext cx="1847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A6A6A"/>
                </a:solidFill>
                <a:latin typeface="Arial"/>
                <a:ea typeface="Arial"/>
                <a:cs typeface="Arial"/>
              </a:defRPr>
            </a:pPr>
            <a:r>
              <a:rPr sz="1125" b="0">
                <a:solidFill>
                  <a:srgbClr val="6A6A6A"/>
                </a:solidFill>
                <a:latin typeface="Arial"/>
                <a:ea typeface="Arial"/>
                <a:cs typeface="Arial"/>
              </a:rPr>
              <a:t>controles superados</a:t>
            </a:r>
          </a:p>
        </p:txBody>
      </p:sp>
      <p:sp>
        <p:nvSpPr>
          <p:cNvPr id="33" name="">
            <a:extLst xmlns:a="http://schemas.openxmlformats.org/drawingml/2006/main">
              <a:ext uri="{FF2B5EF4-FFF2-40B4-BE49-F238E27FC236}">
                <a16:creationId xmlns:a16="http://schemas.microsoft.com/office/drawing/2014/main" id="{72DD7BF0-8B56-4243-9E36-6A8D209A0543}"/>
              </a:ext>
            </a:extLst>
          </p:cNvPr>
          <p:cNvSpPr>
            <a:spLocks xmlns:a="http://schemas.openxmlformats.org/drawingml/2006/main" noGrp="1"/>
          </p:cNvSpPr>
          <p:nvPr/>
        </p:nvSpPr>
        <p:spPr>
          <a:xfrm xmlns:a="http://schemas.openxmlformats.org/drawingml/2006/main">
            <a:off x="5000625" y="4762500"/>
            <a:ext cx="2190750" cy="1123950"/>
          </a:xfrm>
          <a:prstGeom xmlns:a="http://schemas.openxmlformats.org/drawingml/2006/main" prst="roundRect">
            <a:avLst>
              <a:gd name="adj" fmla="val 15254"/>
            </a:avLst>
          </a:prstGeom>
          <a:solidFill xmlns:a="http://schemas.openxmlformats.org/drawingml/2006/main">
            <a:srgbClr val="FFF7F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1A02D6D-CF04-42B8-B4DA-C0531F9BCBF5}"/>
              </a:ext>
            </a:extLst>
          </p:cNvPr>
          <p:cNvSpPr>
            <a:spLocks xmlns:a="http://schemas.openxmlformats.org/drawingml/2006/main" noGrp="1"/>
          </p:cNvSpPr>
          <p:nvPr/>
        </p:nvSpPr>
        <p:spPr>
          <a:xfrm xmlns:a="http://schemas.openxmlformats.org/drawingml/2006/main">
            <a:off x="5172075" y="4914900"/>
            <a:ext cx="1847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59E0B"/>
                </a:solidFill>
                <a:latin typeface="Arial"/>
                <a:ea typeface="Arial"/>
                <a:cs typeface="Arial"/>
              </a:defRPr>
            </a:pPr>
            <a:r>
              <a:rPr sz="2550" b="1">
                <a:solidFill>
                  <a:srgbClr val="F59E0B"/>
                </a:solidFill>
                <a:latin typeface="Arial"/>
                <a:ea typeface="Arial"/>
                <a:cs typeface="Arial"/>
              </a:rPr>
              <a:t>17</a:t>
            </a:r>
          </a:p>
        </p:txBody>
      </p:sp>
      <p:sp>
        <p:nvSpPr>
          <p:cNvPr id="35" name="">
            <a:extLst xmlns:a="http://schemas.openxmlformats.org/drawingml/2006/main">
              <a:ext uri="{FF2B5EF4-FFF2-40B4-BE49-F238E27FC236}">
                <a16:creationId xmlns:a16="http://schemas.microsoft.com/office/drawing/2014/main" id="{312769F1-0CF7-41B0-AED8-8E87F6EE3830}"/>
              </a:ext>
            </a:extLst>
          </p:cNvPr>
          <p:cNvSpPr>
            <a:spLocks xmlns:a="http://schemas.openxmlformats.org/drawingml/2006/main" noGrp="1"/>
          </p:cNvSpPr>
          <p:nvPr/>
        </p:nvSpPr>
        <p:spPr>
          <a:xfrm xmlns:a="http://schemas.openxmlformats.org/drawingml/2006/main">
            <a:off x="5172075" y="5429250"/>
            <a:ext cx="1847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A6A6A"/>
                </a:solidFill>
                <a:latin typeface="Arial"/>
                <a:ea typeface="Arial"/>
                <a:cs typeface="Arial"/>
              </a:defRPr>
            </a:pPr>
            <a:r>
              <a:rPr sz="1125" b="0">
                <a:solidFill>
                  <a:srgbClr val="6A6A6A"/>
                </a:solidFill>
                <a:latin typeface="Arial"/>
                <a:ea typeface="Arial"/>
                <a:cs typeface="Arial"/>
              </a:rPr>
              <a:t>observaciones</a:t>
            </a:r>
          </a:p>
        </p:txBody>
      </p:sp>
      <p:sp>
        <p:nvSpPr>
          <p:cNvPr id="36" name="">
            <a:extLst xmlns:a="http://schemas.openxmlformats.org/drawingml/2006/main">
              <a:ext uri="{FF2B5EF4-FFF2-40B4-BE49-F238E27FC236}">
                <a16:creationId xmlns:a16="http://schemas.microsoft.com/office/drawing/2014/main" id="{DA554E54-FE1F-42E1-A7B1-51283F334543}"/>
              </a:ext>
            </a:extLst>
          </p:cNvPr>
          <p:cNvSpPr>
            <a:spLocks xmlns:a="http://schemas.openxmlformats.org/drawingml/2006/main" noGrp="1"/>
          </p:cNvSpPr>
          <p:nvPr/>
        </p:nvSpPr>
        <p:spPr>
          <a:xfrm xmlns:a="http://schemas.openxmlformats.org/drawingml/2006/main">
            <a:off x="7620000" y="4762500"/>
            <a:ext cx="2190750" cy="1123950"/>
          </a:xfrm>
          <a:prstGeom xmlns:a="http://schemas.openxmlformats.org/drawingml/2006/main" prst="roundRect">
            <a:avLst>
              <a:gd name="adj" fmla="val 15254"/>
            </a:avLst>
          </a:prstGeom>
          <a:solidFill xmlns:a="http://schemas.openxmlformats.org/drawingml/2006/main">
            <a:srgbClr val="FFF7F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8E57F3C-D25B-4888-925D-10A1BABC8AA3}"/>
              </a:ext>
            </a:extLst>
          </p:cNvPr>
          <p:cNvSpPr>
            <a:spLocks xmlns:a="http://schemas.openxmlformats.org/drawingml/2006/main" noGrp="1"/>
          </p:cNvSpPr>
          <p:nvPr/>
        </p:nvSpPr>
        <p:spPr>
          <a:xfrm xmlns:a="http://schemas.openxmlformats.org/drawingml/2006/main">
            <a:off x="7791450" y="4914900"/>
            <a:ext cx="1847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00A699"/>
                </a:solidFill>
                <a:latin typeface="Arial"/>
                <a:ea typeface="Arial"/>
                <a:cs typeface="Arial"/>
              </a:defRPr>
            </a:pPr>
            <a:r>
              <a:rPr sz="2550" b="1">
                <a:solidFill>
                  <a:srgbClr val="00A699"/>
                </a:solidFill>
                <a:latin typeface="Arial"/>
                <a:ea typeface="Arial"/>
                <a:cs typeface="Arial"/>
              </a:rPr>
              <a:t>4/4</a:t>
            </a:r>
          </a:p>
        </p:txBody>
      </p:sp>
      <p:sp>
        <p:nvSpPr>
          <p:cNvPr id="38" name="">
            <a:extLst xmlns:a="http://schemas.openxmlformats.org/drawingml/2006/main">
              <a:ext uri="{FF2B5EF4-FFF2-40B4-BE49-F238E27FC236}">
                <a16:creationId xmlns:a16="http://schemas.microsoft.com/office/drawing/2014/main" id="{DE0F84FA-3A2D-4DF1-AD73-14ADBB2B1EC4}"/>
              </a:ext>
            </a:extLst>
          </p:cNvPr>
          <p:cNvSpPr>
            <a:spLocks xmlns:a="http://schemas.openxmlformats.org/drawingml/2006/main" noGrp="1"/>
          </p:cNvSpPr>
          <p:nvPr/>
        </p:nvSpPr>
        <p:spPr>
          <a:xfrm xmlns:a="http://schemas.openxmlformats.org/drawingml/2006/main">
            <a:off x="7791450" y="5429250"/>
            <a:ext cx="1847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A6A6A"/>
                </a:solidFill>
                <a:latin typeface="Arial"/>
                <a:ea typeface="Arial"/>
                <a:cs typeface="Arial"/>
              </a:defRPr>
            </a:pPr>
            <a:r>
              <a:rPr sz="1125" b="0">
                <a:solidFill>
                  <a:srgbClr val="6A6A6A"/>
                </a:solidFill>
                <a:latin typeface="Arial"/>
                <a:ea typeface="Arial"/>
                <a:cs typeface="Arial"/>
              </a:rPr>
              <a:t>tests automatizados</a:t>
            </a:r>
          </a:p>
        </p:txBody>
      </p:sp>
    </p:spTree>
    <p:extLst>
      <p:ext uri="{BB962C8B-B14F-4D97-AF65-F5344CB8AC3E}">
        <p14:creationId xmlns:p14="http://schemas.microsoft.com/office/powerpoint/2010/main" val="6130819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C13B283-F7DE-488A-B888-6EB9931B9FE7}"/>
              </a:ext>
            </a:extLst>
          </p:cNvPr>
          <p:cNvSpPr>
            <a:spLocks xmlns:a="http://schemas.openxmlformats.org/drawingml/2006/main" noGrp="1"/>
          </p:cNvSpPr>
          <p:nvPr/>
        </p:nvSpPr>
        <p:spPr>
          <a:xfrm xmlns:a="http://schemas.openxmlformats.org/drawingml/2006/main">
            <a:off x="609600" y="304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385C"/>
                </a:solidFill>
                <a:latin typeface="Arial"/>
                <a:ea typeface="Arial"/>
                <a:cs typeface="Arial"/>
              </a:defRPr>
            </a:pPr>
            <a:r>
              <a:rPr sz="975" b="1">
                <a:solidFill>
                  <a:srgbClr val="FF385C"/>
                </a:solidFill>
                <a:latin typeface="Arial"/>
                <a:ea typeface="Arial"/>
                <a:cs typeface="Arial"/>
              </a:rPr>
              <a:t>HALLAZGO 1</a:t>
            </a:r>
          </a:p>
        </p:txBody>
      </p:sp>
      <p:sp>
        <p:nvSpPr>
          <p:cNvPr id="2" name="">
            <a:extLst xmlns:a="http://schemas.openxmlformats.org/drawingml/2006/main">
              <a:ext uri="{FF2B5EF4-FFF2-40B4-BE49-F238E27FC236}">
                <a16:creationId xmlns:a16="http://schemas.microsoft.com/office/drawing/2014/main" id="{320A5F87-2AEA-4477-A3DD-FE0C5C5D62E8}"/>
              </a:ext>
            </a:extLst>
          </p:cNvPr>
          <p:cNvSpPr>
            <a:spLocks xmlns:a="http://schemas.openxmlformats.org/drawingml/2006/main" noGrp="1"/>
          </p:cNvSpPr>
          <p:nvPr/>
        </p:nvSpPr>
        <p:spPr>
          <a:xfrm xmlns:a="http://schemas.openxmlformats.org/drawingml/2006/main">
            <a:off x="609600" y="5905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222222"/>
                </a:solidFill>
                <a:latin typeface="Arial"/>
                <a:ea typeface="Arial"/>
                <a:cs typeface="Arial"/>
              </a:defRPr>
            </a:pPr>
            <a:r>
              <a:rPr sz="2700" b="1">
                <a:solidFill>
                  <a:srgbClr val="222222"/>
                </a:solidFill>
                <a:latin typeface="Arial"/>
                <a:ea typeface="Arial"/>
                <a:cs typeface="Arial"/>
              </a:rPr>
              <a:t>La vivienda completa domina en las seis ciudades</a:t>
            </a:r>
          </a:p>
        </p:txBody>
      </p:sp>
      <p:sp>
        <p:nvSpPr>
          <p:cNvPr id="3" name="">
            <a:extLst xmlns:a="http://schemas.openxmlformats.org/drawingml/2006/main">
              <a:ext uri="{FF2B5EF4-FFF2-40B4-BE49-F238E27FC236}">
                <a16:creationId xmlns:a16="http://schemas.microsoft.com/office/drawing/2014/main" id="{C76BB4F7-683C-4492-909D-438BADABF540}"/>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E6E6E6"/>
            </a:solidFill>
            <a:prstDash val="solid"/>
          </a:ln>
        </p:spPr>
      </p:sp>
      <p:sp>
        <p:nvSpPr>
          <p:cNvPr id="4" name="">
            <a:extLst xmlns:a="http://schemas.openxmlformats.org/drawingml/2006/main">
              <a:ext uri="{FF2B5EF4-FFF2-40B4-BE49-F238E27FC236}">
                <a16:creationId xmlns:a16="http://schemas.microsoft.com/office/drawing/2014/main" id="{D6F0F36A-933E-457B-9D00-D7FBEC899B70}"/>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A6A6A"/>
                </a:solidFill>
                <a:latin typeface="Arial"/>
                <a:ea typeface="Arial"/>
                <a:cs typeface="Arial"/>
              </a:defRPr>
            </a:pPr>
            <a:r>
              <a:rPr sz="825" b="0">
                <a:solidFill>
                  <a:srgbClr val="6A6A6A"/>
                </a:solidFill>
                <a:latin typeface="Arial"/>
                <a:ea typeface="Arial"/>
                <a:cs typeface="Arial"/>
              </a:rPr>
              <a:t>Proyecto educativo independiente · Datos de seis ciudades</a:t>
            </a:r>
          </a:p>
        </p:txBody>
      </p:sp>
      <p:sp>
        <p:nvSpPr>
          <p:cNvPr id="5" name="">
            <a:extLst xmlns:a="http://schemas.openxmlformats.org/drawingml/2006/main">
              <a:ext uri="{FF2B5EF4-FFF2-40B4-BE49-F238E27FC236}">
                <a16:creationId xmlns:a16="http://schemas.microsoft.com/office/drawing/2014/main" id="{8D93C8C1-C093-4090-BA17-274F1615F4DD}"/>
              </a:ext>
            </a:extLst>
          </p:cNvPr>
          <p:cNvSpPr>
            <a:spLocks xmlns:a="http://schemas.openxmlformats.org/drawingml/2006/main" noGrp="1"/>
          </p:cNvSpPr>
          <p:nvPr/>
        </p:nvSpPr>
        <p:spPr>
          <a:xfrm xmlns:a="http://schemas.openxmlformats.org/drawingml/2006/main">
            <a:off x="111252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6A6A6A"/>
                </a:solidFill>
                <a:latin typeface="Arial"/>
                <a:ea typeface="Arial"/>
                <a:cs typeface="Arial"/>
              </a:defRPr>
            </a:pPr>
            <a:r>
              <a:rPr sz="825" b="0">
                <a:solidFill>
                  <a:srgbClr val="6A6A6A"/>
                </a:solidFill>
                <a:latin typeface="Arial"/>
                <a:ea typeface="Arial"/>
                <a:cs typeface="Arial"/>
              </a:rPr>
              <a:t>05</a:t>
            </a:r>
          </a:p>
        </p:txBody>
      </p:sp>
      <p:graphicFrame>
        <p:nvGraphicFramePr>
          <p:cNvPr id="19" name="Chart"/>
          <p:cNvGraphicFramePr/>
          <p:nvPr/>
        </p:nvGraphicFramePr>
        <p:xfrm>
          <a:off xmlns:a="http://schemas.openxmlformats.org/drawingml/2006/main" x="6096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ee874b2a89aa4d36"/>
          </a:graphicData>
        </a:graphic>
      </p:graphicFrame>
      <p:sp>
        <p:nvSpPr>
          <p:cNvPr id="7" name="">
            <a:extLst xmlns:a="http://schemas.openxmlformats.org/drawingml/2006/main">
              <a:ext uri="{FF2B5EF4-FFF2-40B4-BE49-F238E27FC236}">
                <a16:creationId xmlns:a16="http://schemas.microsoft.com/office/drawing/2014/main" id="{C3F917B6-EECC-4D1D-B167-491D5465FC09}"/>
              </a:ext>
            </a:extLst>
          </p:cNvPr>
          <p:cNvSpPr>
            <a:spLocks xmlns:a="http://schemas.openxmlformats.org/drawingml/2006/main" noGrp="1"/>
          </p:cNvSpPr>
          <p:nvPr/>
        </p:nvSpPr>
        <p:spPr>
          <a:xfrm xmlns:a="http://schemas.openxmlformats.org/drawingml/2006/main">
            <a:off x="1257300" y="5105400"/>
            <a:ext cx="7048500" cy="2952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A1354C5-DD33-49A3-8624-8D9B36A7A2E3}"/>
              </a:ext>
            </a:extLst>
          </p:cNvPr>
          <p:cNvSpPr>
            <a:spLocks xmlns:a="http://schemas.openxmlformats.org/drawingml/2006/main" noGrp="1"/>
          </p:cNvSpPr>
          <p:nvPr/>
        </p:nvSpPr>
        <p:spPr>
          <a:xfrm xmlns:a="http://schemas.openxmlformats.org/drawingml/2006/main">
            <a:off x="1714500" y="5153025"/>
            <a:ext cx="609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6A6A6A"/>
                </a:solidFill>
                <a:latin typeface="Arial"/>
                <a:ea typeface="Arial"/>
                <a:cs typeface="Arial"/>
              </a:defRPr>
            </a:pPr>
            <a:r>
              <a:rPr sz="900" b="0">
                <a:solidFill>
                  <a:srgbClr val="6A6A6A"/>
                </a:solidFill>
                <a:latin typeface="Arial"/>
                <a:ea typeface="Arial"/>
                <a:cs typeface="Arial"/>
              </a:rPr>
              <a:t>Composición porcentual dentro de cada ciudad</a:t>
            </a:r>
          </a:p>
        </p:txBody>
      </p:sp>
      <p:sp>
        <p:nvSpPr>
          <p:cNvPr id="9" name="">
            <a:extLst xmlns:a="http://schemas.openxmlformats.org/drawingml/2006/main">
              <a:ext uri="{FF2B5EF4-FFF2-40B4-BE49-F238E27FC236}">
                <a16:creationId xmlns:a16="http://schemas.microsoft.com/office/drawing/2014/main" id="{45DE749C-1656-4C33-B5A1-CD499DEF53EC}"/>
              </a:ext>
            </a:extLst>
          </p:cNvPr>
          <p:cNvSpPr>
            <a:spLocks xmlns:a="http://schemas.openxmlformats.org/drawingml/2006/main" noGrp="1"/>
          </p:cNvSpPr>
          <p:nvPr/>
        </p:nvSpPr>
        <p:spPr>
          <a:xfrm xmlns:a="http://schemas.openxmlformats.org/drawingml/2006/main">
            <a:off x="8858250" y="18097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385C"/>
                </a:solidFill>
                <a:latin typeface="Arial"/>
                <a:ea typeface="Arial"/>
                <a:cs typeface="Arial"/>
              </a:defRPr>
            </a:pPr>
            <a:r>
              <a:rPr sz="2850" b="1">
                <a:solidFill>
                  <a:srgbClr val="FF385C"/>
                </a:solidFill>
                <a:latin typeface="Arial"/>
                <a:ea typeface="Arial"/>
                <a:cs typeface="Arial"/>
              </a:rPr>
              <a:t>74,25%</a:t>
            </a:r>
          </a:p>
        </p:txBody>
      </p:sp>
      <p:sp>
        <p:nvSpPr>
          <p:cNvPr id="10" name="">
            <a:extLst xmlns:a="http://schemas.openxmlformats.org/drawingml/2006/main">
              <a:ext uri="{FF2B5EF4-FFF2-40B4-BE49-F238E27FC236}">
                <a16:creationId xmlns:a16="http://schemas.microsoft.com/office/drawing/2014/main" id="{D219DC13-3992-42F5-9917-129923033F57}"/>
              </a:ext>
            </a:extLst>
          </p:cNvPr>
          <p:cNvSpPr>
            <a:spLocks xmlns:a="http://schemas.openxmlformats.org/drawingml/2006/main" noGrp="1"/>
          </p:cNvSpPr>
          <p:nvPr/>
        </p:nvSpPr>
        <p:spPr>
          <a:xfrm xmlns:a="http://schemas.openxmlformats.org/drawingml/2006/main">
            <a:off x="8858250" y="234315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A6A6A"/>
                </a:solidFill>
                <a:latin typeface="Arial"/>
                <a:ea typeface="Arial"/>
                <a:cs typeface="Arial"/>
              </a:defRPr>
            </a:pPr>
            <a:r>
              <a:rPr sz="1500" b="0">
                <a:solidFill>
                  <a:srgbClr val="6A6A6A"/>
                </a:solidFill>
                <a:latin typeface="Arial"/>
                <a:ea typeface="Arial"/>
                <a:cs typeface="Arial"/>
              </a:rPr>
              <a:t>de la oferta de Milán es vivienda completa</a:t>
            </a:r>
          </a:p>
        </p:txBody>
      </p:sp>
      <p:sp>
        <p:nvSpPr>
          <p:cNvPr id="11" name="">
            <a:extLst xmlns:a="http://schemas.openxmlformats.org/drawingml/2006/main">
              <a:ext uri="{FF2B5EF4-FFF2-40B4-BE49-F238E27FC236}">
                <a16:creationId xmlns:a16="http://schemas.microsoft.com/office/drawing/2014/main" id="{2259FD05-DF7C-436E-BCA3-0D13320108F7}"/>
              </a:ext>
            </a:extLst>
          </p:cNvPr>
          <p:cNvSpPr>
            <a:spLocks xmlns:a="http://schemas.openxmlformats.org/drawingml/2006/main" noGrp="1"/>
          </p:cNvSpPr>
          <p:nvPr/>
        </p:nvSpPr>
        <p:spPr>
          <a:xfrm xmlns:a="http://schemas.openxmlformats.org/drawingml/2006/main">
            <a:off x="8858250" y="35623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00A699"/>
                </a:solidFill>
                <a:latin typeface="Arial"/>
                <a:ea typeface="Arial"/>
                <a:cs typeface="Arial"/>
              </a:defRPr>
            </a:pPr>
            <a:r>
              <a:rPr sz="2850" b="1">
                <a:solidFill>
                  <a:srgbClr val="00A699"/>
                </a:solidFill>
                <a:latin typeface="Arial"/>
                <a:ea typeface="Arial"/>
                <a:cs typeface="Arial"/>
              </a:rPr>
              <a:t>8,71%</a:t>
            </a:r>
          </a:p>
        </p:txBody>
      </p:sp>
      <p:sp>
        <p:nvSpPr>
          <p:cNvPr id="12" name="">
            <a:extLst xmlns:a="http://schemas.openxmlformats.org/drawingml/2006/main">
              <a:ext uri="{FF2B5EF4-FFF2-40B4-BE49-F238E27FC236}">
                <a16:creationId xmlns:a16="http://schemas.microsoft.com/office/drawing/2014/main" id="{AF913051-CE7D-4BA0-AC07-ECBCC4255FE4}"/>
              </a:ext>
            </a:extLst>
          </p:cNvPr>
          <p:cNvSpPr>
            <a:spLocks xmlns:a="http://schemas.openxmlformats.org/drawingml/2006/main" noGrp="1"/>
          </p:cNvSpPr>
          <p:nvPr/>
        </p:nvSpPr>
        <p:spPr>
          <a:xfrm xmlns:a="http://schemas.openxmlformats.org/drawingml/2006/main">
            <a:off x="8858250" y="409575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A6A6A"/>
                </a:solidFill>
                <a:latin typeface="Arial"/>
                <a:ea typeface="Arial"/>
                <a:cs typeface="Arial"/>
              </a:defRPr>
            </a:pPr>
            <a:r>
              <a:rPr sz="1500" b="0">
                <a:solidFill>
                  <a:srgbClr val="6A6A6A"/>
                </a:solidFill>
                <a:latin typeface="Arial"/>
                <a:ea typeface="Arial"/>
                <a:cs typeface="Arial"/>
              </a:rPr>
              <a:t>de la oferta de Tokio es habitación compartida</a:t>
            </a:r>
          </a:p>
        </p:txBody>
      </p:sp>
      <p:sp>
        <p:nvSpPr>
          <p:cNvPr id="13" name="">
            <a:extLst xmlns:a="http://schemas.openxmlformats.org/drawingml/2006/main">
              <a:ext uri="{FF2B5EF4-FFF2-40B4-BE49-F238E27FC236}">
                <a16:creationId xmlns:a16="http://schemas.microsoft.com/office/drawing/2014/main" id="{FFE6A2B8-68ED-4652-9862-10C3A086FCEF}"/>
              </a:ext>
            </a:extLst>
          </p:cNvPr>
          <p:cNvSpPr>
            <a:spLocks xmlns:a="http://schemas.openxmlformats.org/drawingml/2006/main" noGrp="1"/>
          </p:cNvSpPr>
          <p:nvPr/>
        </p:nvSpPr>
        <p:spPr>
          <a:xfrm xmlns:a="http://schemas.openxmlformats.org/drawingml/2006/main">
            <a:off x="8858250" y="5219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defRPr sz="1275" b="1">
                <a:solidFill>
                  <a:srgbClr val="222222"/>
                </a:solidFill>
                <a:latin typeface="Arial"/>
                <a:ea typeface="Arial"/>
                <a:cs typeface="Arial"/>
              </a:defRPr>
            </a:pPr>
            <a:r>
              <a:rPr sz="1275" b="1">
                <a:solidFill>
                  <a:srgbClr val="222222"/>
                </a:solidFill>
                <a:latin typeface="Arial"/>
                <a:ea typeface="Arial"/>
                <a:cs typeface="Arial"/>
              </a:rPr>
              <a:t>No aparece la categoría hotel en Nueva York, Sydney ni Tokio.</a:t>
            </a:r>
          </a:p>
        </p:txBody>
      </p:sp>
    </p:spTree>
    <p:extLst>
      <p:ext uri="{BB962C8B-B14F-4D97-AF65-F5344CB8AC3E}">
        <p14:creationId xmlns:p14="http://schemas.microsoft.com/office/powerpoint/2010/main" val="2441980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2A6D8825-055F-4692-9D96-94D15D875DB5}"/>
              </a:ext>
            </a:extLst>
          </p:cNvPr>
          <p:cNvSpPr>
            <a:spLocks xmlns:a="http://schemas.openxmlformats.org/drawingml/2006/main" noGrp="1"/>
          </p:cNvSpPr>
          <p:nvPr/>
        </p:nvSpPr>
        <p:spPr>
          <a:xfrm xmlns:a="http://schemas.openxmlformats.org/drawingml/2006/main">
            <a:off x="609600" y="304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385C"/>
                </a:solidFill>
                <a:latin typeface="Arial"/>
                <a:ea typeface="Arial"/>
                <a:cs typeface="Arial"/>
              </a:defRPr>
            </a:pPr>
            <a:r>
              <a:rPr sz="975" b="1">
                <a:solidFill>
                  <a:srgbClr val="FF385C"/>
                </a:solidFill>
                <a:latin typeface="Arial"/>
                <a:ea typeface="Arial"/>
                <a:cs typeface="Arial"/>
              </a:rPr>
              <a:t>HALLAZGO 2</a:t>
            </a:r>
          </a:p>
        </p:txBody>
      </p:sp>
      <p:sp>
        <p:nvSpPr>
          <p:cNvPr id="2" name="">
            <a:extLst xmlns:a="http://schemas.openxmlformats.org/drawingml/2006/main">
              <a:ext uri="{FF2B5EF4-FFF2-40B4-BE49-F238E27FC236}">
                <a16:creationId xmlns:a16="http://schemas.microsoft.com/office/drawing/2014/main" id="{2D9BAFE3-6E77-4E2D-B130-D80B7D552D7B}"/>
              </a:ext>
            </a:extLst>
          </p:cNvPr>
          <p:cNvSpPr>
            <a:spLocks xmlns:a="http://schemas.openxmlformats.org/drawingml/2006/main" noGrp="1"/>
          </p:cNvSpPr>
          <p:nvPr/>
        </p:nvSpPr>
        <p:spPr>
          <a:xfrm xmlns:a="http://schemas.openxmlformats.org/drawingml/2006/main">
            <a:off x="609600" y="5905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222222"/>
                </a:solidFill>
                <a:latin typeface="Arial"/>
                <a:ea typeface="Arial"/>
                <a:cs typeface="Arial"/>
              </a:defRPr>
            </a:pPr>
            <a:r>
              <a:rPr sz="2700" b="1">
                <a:solidFill>
                  <a:srgbClr val="222222"/>
                </a:solidFill>
                <a:latin typeface="Arial"/>
                <a:ea typeface="Arial"/>
                <a:cs typeface="Arial"/>
              </a:rPr>
              <a:t>Cuatro segmentos combinan escala, precio relativo y actividad</a:t>
            </a:r>
          </a:p>
        </p:txBody>
      </p:sp>
      <p:sp>
        <p:nvSpPr>
          <p:cNvPr id="3" name="">
            <a:extLst xmlns:a="http://schemas.openxmlformats.org/drawingml/2006/main">
              <a:ext uri="{FF2B5EF4-FFF2-40B4-BE49-F238E27FC236}">
                <a16:creationId xmlns:a16="http://schemas.microsoft.com/office/drawing/2014/main" id="{F7EB9C6F-7FE5-4F91-8070-E0A2B989C43C}"/>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E6E6E6"/>
            </a:solidFill>
            <a:prstDash val="solid"/>
          </a:ln>
        </p:spPr>
      </p:sp>
      <p:sp>
        <p:nvSpPr>
          <p:cNvPr id="4" name="">
            <a:extLst xmlns:a="http://schemas.openxmlformats.org/drawingml/2006/main">
              <a:ext uri="{FF2B5EF4-FFF2-40B4-BE49-F238E27FC236}">
                <a16:creationId xmlns:a16="http://schemas.microsoft.com/office/drawing/2014/main" id="{FFE79C90-6FBA-4776-8BAA-BD3AB7361B19}"/>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A6A6A"/>
                </a:solidFill>
                <a:latin typeface="Arial"/>
                <a:ea typeface="Arial"/>
                <a:cs typeface="Arial"/>
              </a:defRPr>
            </a:pPr>
            <a:r>
              <a:rPr sz="825" b="0">
                <a:solidFill>
                  <a:srgbClr val="6A6A6A"/>
                </a:solidFill>
                <a:latin typeface="Arial"/>
                <a:ea typeface="Arial"/>
                <a:cs typeface="Arial"/>
              </a:rPr>
              <a:t>Proyecto educativo independiente · Datos de seis ciudades</a:t>
            </a:r>
          </a:p>
        </p:txBody>
      </p:sp>
      <p:sp>
        <p:nvSpPr>
          <p:cNvPr id="5" name="">
            <a:extLst xmlns:a="http://schemas.openxmlformats.org/drawingml/2006/main">
              <a:ext uri="{FF2B5EF4-FFF2-40B4-BE49-F238E27FC236}">
                <a16:creationId xmlns:a16="http://schemas.microsoft.com/office/drawing/2014/main" id="{068174CB-0D8B-4722-8AC7-E9AF3D90CA7E}"/>
              </a:ext>
            </a:extLst>
          </p:cNvPr>
          <p:cNvSpPr>
            <a:spLocks xmlns:a="http://schemas.openxmlformats.org/drawingml/2006/main" noGrp="1"/>
          </p:cNvSpPr>
          <p:nvPr/>
        </p:nvSpPr>
        <p:spPr>
          <a:xfrm xmlns:a="http://schemas.openxmlformats.org/drawingml/2006/main">
            <a:off x="111252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6A6A6A"/>
                </a:solidFill>
                <a:latin typeface="Arial"/>
                <a:ea typeface="Arial"/>
                <a:cs typeface="Arial"/>
              </a:defRPr>
            </a:pPr>
            <a:r>
              <a:rPr sz="825" b="0">
                <a:solidFill>
                  <a:srgbClr val="6A6A6A"/>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067FB711-61C7-4331-AA39-2168F4F04645}"/>
              </a:ext>
            </a:extLst>
          </p:cNvPr>
          <p:cNvSpPr>
            <a:spLocks xmlns:a="http://schemas.openxmlformats.org/drawingml/2006/main" noGrp="1"/>
          </p:cNvSpPr>
          <p:nvPr/>
        </p:nvSpPr>
        <p:spPr>
          <a:xfrm xmlns:a="http://schemas.openxmlformats.org/drawingml/2006/main">
            <a:off x="609600" y="1657350"/>
            <a:ext cx="3257550" cy="514350"/>
          </a:xfrm>
          <a:prstGeom xmlns:a="http://schemas.openxmlformats.org/drawingml/2006/main" prst="roundRect">
            <a:avLst>
              <a:gd name="adj" fmla="val 0"/>
            </a:avLst>
          </a:prstGeom>
          <a:solidFill xmlns:a="http://schemas.openxmlformats.org/drawingml/2006/main">
            <a:srgbClr val="FF385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B6B90F2-96C9-42BF-AD30-DE345590821A}"/>
              </a:ext>
            </a:extLst>
          </p:cNvPr>
          <p:cNvSpPr>
            <a:spLocks xmlns:a="http://schemas.openxmlformats.org/drawingml/2006/main" noGrp="1"/>
          </p:cNvSpPr>
          <p:nvPr/>
        </p:nvSpPr>
        <p:spPr>
          <a:xfrm xmlns:a="http://schemas.openxmlformats.org/drawingml/2006/main">
            <a:off x="704850" y="1790700"/>
            <a:ext cx="3067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Ciudad · barrio</a:t>
            </a:r>
          </a:p>
        </p:txBody>
      </p:sp>
      <p:sp>
        <p:nvSpPr>
          <p:cNvPr id="8" name="">
            <a:extLst xmlns:a="http://schemas.openxmlformats.org/drawingml/2006/main">
              <a:ext uri="{FF2B5EF4-FFF2-40B4-BE49-F238E27FC236}">
                <a16:creationId xmlns:a16="http://schemas.microsoft.com/office/drawing/2014/main" id="{65158FE9-F17C-49CD-B501-D68C72F200EB}"/>
              </a:ext>
            </a:extLst>
          </p:cNvPr>
          <p:cNvSpPr>
            <a:spLocks xmlns:a="http://schemas.openxmlformats.org/drawingml/2006/main" noGrp="1"/>
          </p:cNvSpPr>
          <p:nvPr/>
        </p:nvSpPr>
        <p:spPr>
          <a:xfrm xmlns:a="http://schemas.openxmlformats.org/drawingml/2006/main">
            <a:off x="3867150" y="1657350"/>
            <a:ext cx="2286000" cy="514350"/>
          </a:xfrm>
          <a:prstGeom xmlns:a="http://schemas.openxmlformats.org/drawingml/2006/main" prst="roundRect">
            <a:avLst>
              <a:gd name="adj" fmla="val 0"/>
            </a:avLst>
          </a:prstGeom>
          <a:solidFill xmlns:a="http://schemas.openxmlformats.org/drawingml/2006/main">
            <a:srgbClr val="22222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6B37C2D-9EBD-4D57-8FD1-D293BF66602C}"/>
              </a:ext>
            </a:extLst>
          </p:cNvPr>
          <p:cNvSpPr>
            <a:spLocks xmlns:a="http://schemas.openxmlformats.org/drawingml/2006/main" noGrp="1"/>
          </p:cNvSpPr>
          <p:nvPr/>
        </p:nvSpPr>
        <p:spPr>
          <a:xfrm xmlns:a="http://schemas.openxmlformats.org/drawingml/2006/main">
            <a:off x="3962400" y="17907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Tipo</a:t>
            </a:r>
          </a:p>
        </p:txBody>
      </p:sp>
      <p:sp>
        <p:nvSpPr>
          <p:cNvPr id="10" name="">
            <a:extLst xmlns:a="http://schemas.openxmlformats.org/drawingml/2006/main">
              <a:ext uri="{FF2B5EF4-FFF2-40B4-BE49-F238E27FC236}">
                <a16:creationId xmlns:a16="http://schemas.microsoft.com/office/drawing/2014/main" id="{384C997C-5381-4FC9-8C6F-EE2FFFB24C91}"/>
              </a:ext>
            </a:extLst>
          </p:cNvPr>
          <p:cNvSpPr>
            <a:spLocks xmlns:a="http://schemas.openxmlformats.org/drawingml/2006/main" noGrp="1"/>
          </p:cNvSpPr>
          <p:nvPr/>
        </p:nvSpPr>
        <p:spPr>
          <a:xfrm xmlns:a="http://schemas.openxmlformats.org/drawingml/2006/main">
            <a:off x="6153150" y="1657350"/>
            <a:ext cx="1428750" cy="514350"/>
          </a:xfrm>
          <a:prstGeom xmlns:a="http://schemas.openxmlformats.org/drawingml/2006/main" prst="roundRect">
            <a:avLst>
              <a:gd name="adj" fmla="val 0"/>
            </a:avLst>
          </a:prstGeom>
          <a:solidFill xmlns:a="http://schemas.openxmlformats.org/drawingml/2006/main">
            <a:srgbClr val="22222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1AD7CC0-C0AC-4536-923F-86C5EC99B96D}"/>
              </a:ext>
            </a:extLst>
          </p:cNvPr>
          <p:cNvSpPr>
            <a:spLocks xmlns:a="http://schemas.openxmlformats.org/drawingml/2006/main" noGrp="1"/>
          </p:cNvSpPr>
          <p:nvPr/>
        </p:nvSpPr>
        <p:spPr>
          <a:xfrm xmlns:a="http://schemas.openxmlformats.org/drawingml/2006/main">
            <a:off x="6248400" y="17907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Anuncios</a:t>
            </a:r>
          </a:p>
        </p:txBody>
      </p:sp>
      <p:sp>
        <p:nvSpPr>
          <p:cNvPr id="12" name="">
            <a:extLst xmlns:a="http://schemas.openxmlformats.org/drawingml/2006/main">
              <a:ext uri="{FF2B5EF4-FFF2-40B4-BE49-F238E27FC236}">
                <a16:creationId xmlns:a16="http://schemas.microsoft.com/office/drawing/2014/main" id="{4993AF5E-A216-44C2-9A32-5030029E1C86}"/>
              </a:ext>
            </a:extLst>
          </p:cNvPr>
          <p:cNvSpPr>
            <a:spLocks xmlns:a="http://schemas.openxmlformats.org/drawingml/2006/main" noGrp="1"/>
          </p:cNvSpPr>
          <p:nvPr/>
        </p:nvSpPr>
        <p:spPr>
          <a:xfrm xmlns:a="http://schemas.openxmlformats.org/drawingml/2006/main">
            <a:off x="7581900" y="1657350"/>
            <a:ext cx="1714500" cy="514350"/>
          </a:xfrm>
          <a:prstGeom xmlns:a="http://schemas.openxmlformats.org/drawingml/2006/main" prst="roundRect">
            <a:avLst>
              <a:gd name="adj" fmla="val 0"/>
            </a:avLst>
          </a:prstGeom>
          <a:solidFill xmlns:a="http://schemas.openxmlformats.org/drawingml/2006/main">
            <a:srgbClr val="2222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B48259D-D083-4901-8B2A-9DB6E119B62D}"/>
              </a:ext>
            </a:extLst>
          </p:cNvPr>
          <p:cNvSpPr>
            <a:spLocks xmlns:a="http://schemas.openxmlformats.org/drawingml/2006/main" noGrp="1"/>
          </p:cNvSpPr>
          <p:nvPr/>
        </p:nvSpPr>
        <p:spPr>
          <a:xfrm xmlns:a="http://schemas.openxmlformats.org/drawingml/2006/main">
            <a:off x="7677150" y="17907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Índice precio</a:t>
            </a:r>
          </a:p>
        </p:txBody>
      </p:sp>
      <p:sp>
        <p:nvSpPr>
          <p:cNvPr id="14" name="">
            <a:extLst xmlns:a="http://schemas.openxmlformats.org/drawingml/2006/main">
              <a:ext uri="{FF2B5EF4-FFF2-40B4-BE49-F238E27FC236}">
                <a16:creationId xmlns:a16="http://schemas.microsoft.com/office/drawing/2014/main" id="{A468ABEC-4192-470C-8833-6027AB9B126C}"/>
              </a:ext>
            </a:extLst>
          </p:cNvPr>
          <p:cNvSpPr>
            <a:spLocks xmlns:a="http://schemas.openxmlformats.org/drawingml/2006/main" noGrp="1"/>
          </p:cNvSpPr>
          <p:nvPr/>
        </p:nvSpPr>
        <p:spPr>
          <a:xfrm xmlns:a="http://schemas.openxmlformats.org/drawingml/2006/main">
            <a:off x="9296400" y="1657350"/>
            <a:ext cx="1714500" cy="514350"/>
          </a:xfrm>
          <a:prstGeom xmlns:a="http://schemas.openxmlformats.org/drawingml/2006/main" prst="roundRect">
            <a:avLst>
              <a:gd name="adj" fmla="val 0"/>
            </a:avLst>
          </a:prstGeom>
          <a:solidFill xmlns:a="http://schemas.openxmlformats.org/drawingml/2006/main">
            <a:srgbClr val="22222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FEE7AB1-9EB2-426E-9F29-CF52CECE251C}"/>
              </a:ext>
            </a:extLst>
          </p:cNvPr>
          <p:cNvSpPr>
            <a:spLocks xmlns:a="http://schemas.openxmlformats.org/drawingml/2006/main" noGrp="1"/>
          </p:cNvSpPr>
          <p:nvPr/>
        </p:nvSpPr>
        <p:spPr>
          <a:xfrm xmlns:a="http://schemas.openxmlformats.org/drawingml/2006/main">
            <a:off x="9391650" y="17907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Dif. actividad</a:t>
            </a:r>
          </a:p>
        </p:txBody>
      </p:sp>
      <p:sp>
        <p:nvSpPr>
          <p:cNvPr id="16" name="">
            <a:extLst xmlns:a="http://schemas.openxmlformats.org/drawingml/2006/main">
              <a:ext uri="{FF2B5EF4-FFF2-40B4-BE49-F238E27FC236}">
                <a16:creationId xmlns:a16="http://schemas.microsoft.com/office/drawing/2014/main" id="{56DEAD03-6C84-4AA4-A87C-461961CC0EC6}"/>
              </a:ext>
            </a:extLst>
          </p:cNvPr>
          <p:cNvSpPr>
            <a:spLocks xmlns:a="http://schemas.openxmlformats.org/drawingml/2006/main" noGrp="1"/>
          </p:cNvSpPr>
          <p:nvPr/>
        </p:nvSpPr>
        <p:spPr>
          <a:xfrm xmlns:a="http://schemas.openxmlformats.org/drawingml/2006/main">
            <a:off x="609600" y="2171700"/>
            <a:ext cx="3257550" cy="628650"/>
          </a:xfrm>
          <a:prstGeom xmlns:a="http://schemas.openxmlformats.org/drawingml/2006/main" prst="roundRect">
            <a:avLst>
              <a:gd name="adj" fmla="val 0"/>
            </a:avLst>
          </a:prstGeom>
          <a:solidFill xmlns:a="http://schemas.openxmlformats.org/drawingml/2006/main">
            <a:srgbClr val="FFF7F8"/>
          </a:solidFill>
          <a:ln xmlns:a="http://schemas.openxmlformats.org/drawingml/2006/main" w="9525">
            <a:solidFill>
              <a:srgbClr val="E6E6E6"/>
            </a:solidFill>
            <a:prstDash val="solid"/>
          </a:ln>
        </p:spPr>
      </p:sp>
      <p:sp>
        <p:nvSpPr>
          <p:cNvPr id="17" name="">
            <a:extLst xmlns:a="http://schemas.openxmlformats.org/drawingml/2006/main">
              <a:ext uri="{FF2B5EF4-FFF2-40B4-BE49-F238E27FC236}">
                <a16:creationId xmlns:a16="http://schemas.microsoft.com/office/drawing/2014/main" id="{CA87F338-4C5A-486D-A47F-4CEFF10623D6}"/>
              </a:ext>
            </a:extLst>
          </p:cNvPr>
          <p:cNvSpPr>
            <a:spLocks xmlns:a="http://schemas.openxmlformats.org/drawingml/2006/main" noGrp="1"/>
          </p:cNvSpPr>
          <p:nvPr/>
        </p:nvSpPr>
        <p:spPr>
          <a:xfrm xmlns:a="http://schemas.openxmlformats.org/drawingml/2006/main">
            <a:off x="704850" y="2352675"/>
            <a:ext cx="3067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22222"/>
                </a:solidFill>
                <a:latin typeface="Arial"/>
                <a:ea typeface="Arial"/>
                <a:cs typeface="Arial"/>
              </a:defRPr>
            </a:pPr>
            <a:r>
              <a:rPr sz="1275" b="1">
                <a:solidFill>
                  <a:srgbClr val="222222"/>
                </a:solidFill>
                <a:latin typeface="Arial"/>
                <a:ea typeface="Arial"/>
                <a:cs typeface="Arial"/>
              </a:rPr>
              <a:t>London · Tower Hamlets</a:t>
            </a:r>
          </a:p>
        </p:txBody>
      </p:sp>
      <p:sp>
        <p:nvSpPr>
          <p:cNvPr id="18" name="">
            <a:extLst xmlns:a="http://schemas.openxmlformats.org/drawingml/2006/main">
              <a:ext uri="{FF2B5EF4-FFF2-40B4-BE49-F238E27FC236}">
                <a16:creationId xmlns:a16="http://schemas.microsoft.com/office/drawing/2014/main" id="{1D70069E-5603-427E-833F-D0439314D9D9}"/>
              </a:ext>
            </a:extLst>
          </p:cNvPr>
          <p:cNvSpPr>
            <a:spLocks xmlns:a="http://schemas.openxmlformats.org/drawingml/2006/main" noGrp="1"/>
          </p:cNvSpPr>
          <p:nvPr/>
        </p:nvSpPr>
        <p:spPr>
          <a:xfrm xmlns:a="http://schemas.openxmlformats.org/drawingml/2006/main">
            <a:off x="3867150" y="2171700"/>
            <a:ext cx="2286000" cy="628650"/>
          </a:xfrm>
          <a:prstGeom xmlns:a="http://schemas.openxmlformats.org/drawingml/2006/main" prst="roundRect">
            <a:avLst>
              <a:gd name="adj" fmla="val 0"/>
            </a:avLst>
          </a:prstGeom>
          <a:solidFill xmlns:a="http://schemas.openxmlformats.org/drawingml/2006/main">
            <a:srgbClr val="FFF7F8"/>
          </a:solidFill>
          <a:ln xmlns:a="http://schemas.openxmlformats.org/drawingml/2006/main" w="9525">
            <a:solidFill>
              <a:srgbClr val="E6E6E6"/>
            </a:solidFill>
            <a:prstDash val="solid"/>
          </a:ln>
        </p:spPr>
      </p:sp>
      <p:sp>
        <p:nvSpPr>
          <p:cNvPr id="19" name="">
            <a:extLst xmlns:a="http://schemas.openxmlformats.org/drawingml/2006/main">
              <a:ext uri="{FF2B5EF4-FFF2-40B4-BE49-F238E27FC236}">
                <a16:creationId xmlns:a16="http://schemas.microsoft.com/office/drawing/2014/main" id="{5644DB4A-FAEC-418C-8C3F-C559074C23C3}"/>
              </a:ext>
            </a:extLst>
          </p:cNvPr>
          <p:cNvSpPr>
            <a:spLocks xmlns:a="http://schemas.openxmlformats.org/drawingml/2006/main" noGrp="1"/>
          </p:cNvSpPr>
          <p:nvPr/>
        </p:nvSpPr>
        <p:spPr>
          <a:xfrm xmlns:a="http://schemas.openxmlformats.org/drawingml/2006/main">
            <a:off x="3962400" y="23526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222222"/>
                </a:solidFill>
                <a:latin typeface="Arial"/>
                <a:ea typeface="Arial"/>
                <a:cs typeface="Arial"/>
              </a:defRPr>
            </a:pPr>
            <a:r>
              <a:rPr sz="1275" b="0">
                <a:solidFill>
                  <a:srgbClr val="222222"/>
                </a:solidFill>
                <a:latin typeface="Arial"/>
                <a:ea typeface="Arial"/>
                <a:cs typeface="Arial"/>
              </a:rPr>
              <a:t>Vivienda completa</a:t>
            </a:r>
          </a:p>
        </p:txBody>
      </p:sp>
      <p:sp>
        <p:nvSpPr>
          <p:cNvPr id="20" name="">
            <a:extLst xmlns:a="http://schemas.openxmlformats.org/drawingml/2006/main">
              <a:ext uri="{FF2B5EF4-FFF2-40B4-BE49-F238E27FC236}">
                <a16:creationId xmlns:a16="http://schemas.microsoft.com/office/drawing/2014/main" id="{93BB9DE4-8CDA-4414-9ECC-724365439B27}"/>
              </a:ext>
            </a:extLst>
          </p:cNvPr>
          <p:cNvSpPr>
            <a:spLocks xmlns:a="http://schemas.openxmlformats.org/drawingml/2006/main" noGrp="1"/>
          </p:cNvSpPr>
          <p:nvPr/>
        </p:nvSpPr>
        <p:spPr>
          <a:xfrm xmlns:a="http://schemas.openxmlformats.org/drawingml/2006/main">
            <a:off x="6153150" y="2171700"/>
            <a:ext cx="1428750" cy="628650"/>
          </a:xfrm>
          <a:prstGeom xmlns:a="http://schemas.openxmlformats.org/drawingml/2006/main" prst="roundRect">
            <a:avLst>
              <a:gd name="adj" fmla="val 0"/>
            </a:avLst>
          </a:prstGeom>
          <a:solidFill xmlns:a="http://schemas.openxmlformats.org/drawingml/2006/main">
            <a:srgbClr val="FFF7F8"/>
          </a:solidFill>
          <a:ln xmlns:a="http://schemas.openxmlformats.org/drawingml/2006/main" w="9525">
            <a:solidFill>
              <a:srgbClr val="E6E6E6"/>
            </a:solidFill>
            <a:prstDash val="solid"/>
          </a:ln>
        </p:spPr>
      </p:sp>
      <p:sp>
        <p:nvSpPr>
          <p:cNvPr id="21" name="">
            <a:extLst xmlns:a="http://schemas.openxmlformats.org/drawingml/2006/main">
              <a:ext uri="{FF2B5EF4-FFF2-40B4-BE49-F238E27FC236}">
                <a16:creationId xmlns:a16="http://schemas.microsoft.com/office/drawing/2014/main" id="{32918E27-B4A5-4AB6-975E-5C3C2AF08174}"/>
              </a:ext>
            </a:extLst>
          </p:cNvPr>
          <p:cNvSpPr>
            <a:spLocks xmlns:a="http://schemas.openxmlformats.org/drawingml/2006/main" noGrp="1"/>
          </p:cNvSpPr>
          <p:nvPr/>
        </p:nvSpPr>
        <p:spPr>
          <a:xfrm xmlns:a="http://schemas.openxmlformats.org/drawingml/2006/main">
            <a:off x="6248400" y="23526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3.950</a:t>
            </a:r>
          </a:p>
        </p:txBody>
      </p:sp>
      <p:sp>
        <p:nvSpPr>
          <p:cNvPr id="22" name="">
            <a:extLst xmlns:a="http://schemas.openxmlformats.org/drawingml/2006/main">
              <a:ext uri="{FF2B5EF4-FFF2-40B4-BE49-F238E27FC236}">
                <a16:creationId xmlns:a16="http://schemas.microsoft.com/office/drawing/2014/main" id="{D1B51959-AFB0-4B9F-88B7-9334908F5EFF}"/>
              </a:ext>
            </a:extLst>
          </p:cNvPr>
          <p:cNvSpPr>
            <a:spLocks xmlns:a="http://schemas.openxmlformats.org/drawingml/2006/main" noGrp="1"/>
          </p:cNvSpPr>
          <p:nvPr/>
        </p:nvSpPr>
        <p:spPr>
          <a:xfrm xmlns:a="http://schemas.openxmlformats.org/drawingml/2006/main">
            <a:off x="7581900" y="2171700"/>
            <a:ext cx="1714500" cy="628650"/>
          </a:xfrm>
          <a:prstGeom xmlns:a="http://schemas.openxmlformats.org/drawingml/2006/main" prst="roundRect">
            <a:avLst>
              <a:gd name="adj" fmla="val 0"/>
            </a:avLst>
          </a:prstGeom>
          <a:solidFill xmlns:a="http://schemas.openxmlformats.org/drawingml/2006/main">
            <a:srgbClr val="FFF7F8"/>
          </a:solidFill>
          <a:ln xmlns:a="http://schemas.openxmlformats.org/drawingml/2006/main" w="9525">
            <a:solidFill>
              <a:srgbClr val="E6E6E6"/>
            </a:solidFill>
            <a:prstDash val="solid"/>
          </a:ln>
        </p:spPr>
      </p:sp>
      <p:sp>
        <p:nvSpPr>
          <p:cNvPr id="23" name="">
            <a:extLst xmlns:a="http://schemas.openxmlformats.org/drawingml/2006/main">
              <a:ext uri="{FF2B5EF4-FFF2-40B4-BE49-F238E27FC236}">
                <a16:creationId xmlns:a16="http://schemas.microsoft.com/office/drawing/2014/main" id="{53688545-8F65-4519-9A01-6E05BB42573E}"/>
              </a:ext>
            </a:extLst>
          </p:cNvPr>
          <p:cNvSpPr>
            <a:spLocks xmlns:a="http://schemas.openxmlformats.org/drawingml/2006/main" noGrp="1"/>
          </p:cNvSpPr>
          <p:nvPr/>
        </p:nvSpPr>
        <p:spPr>
          <a:xfrm xmlns:a="http://schemas.openxmlformats.org/drawingml/2006/main">
            <a:off x="7677150" y="23526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91,67</a:t>
            </a:r>
          </a:p>
        </p:txBody>
      </p:sp>
      <p:sp>
        <p:nvSpPr>
          <p:cNvPr id="24" name="">
            <a:extLst xmlns:a="http://schemas.openxmlformats.org/drawingml/2006/main">
              <a:ext uri="{FF2B5EF4-FFF2-40B4-BE49-F238E27FC236}">
                <a16:creationId xmlns:a16="http://schemas.microsoft.com/office/drawing/2014/main" id="{3A2EB505-19F2-46D4-9AD9-DE5385D7AF7B}"/>
              </a:ext>
            </a:extLst>
          </p:cNvPr>
          <p:cNvSpPr>
            <a:spLocks xmlns:a="http://schemas.openxmlformats.org/drawingml/2006/main" noGrp="1"/>
          </p:cNvSpPr>
          <p:nvPr/>
        </p:nvSpPr>
        <p:spPr>
          <a:xfrm xmlns:a="http://schemas.openxmlformats.org/drawingml/2006/main">
            <a:off x="9296400" y="2171700"/>
            <a:ext cx="1714500" cy="628650"/>
          </a:xfrm>
          <a:prstGeom xmlns:a="http://schemas.openxmlformats.org/drawingml/2006/main" prst="roundRect">
            <a:avLst>
              <a:gd name="adj" fmla="val 0"/>
            </a:avLst>
          </a:prstGeom>
          <a:solidFill xmlns:a="http://schemas.openxmlformats.org/drawingml/2006/main">
            <a:srgbClr val="FFF7F8"/>
          </a:solidFill>
          <a:ln xmlns:a="http://schemas.openxmlformats.org/drawingml/2006/main" w="9525">
            <a:solidFill>
              <a:srgbClr val="E6E6E6"/>
            </a:solidFill>
            <a:prstDash val="solid"/>
          </a:ln>
        </p:spPr>
      </p:sp>
      <p:sp>
        <p:nvSpPr>
          <p:cNvPr id="25" name="">
            <a:extLst xmlns:a="http://schemas.openxmlformats.org/drawingml/2006/main">
              <a:ext uri="{FF2B5EF4-FFF2-40B4-BE49-F238E27FC236}">
                <a16:creationId xmlns:a16="http://schemas.microsoft.com/office/drawing/2014/main" id="{6D8D76B5-B35A-4649-A6E0-BFE76BD79727}"/>
              </a:ext>
            </a:extLst>
          </p:cNvPr>
          <p:cNvSpPr>
            <a:spLocks xmlns:a="http://schemas.openxmlformats.org/drawingml/2006/main" noGrp="1"/>
          </p:cNvSpPr>
          <p:nvPr/>
        </p:nvSpPr>
        <p:spPr>
          <a:xfrm xmlns:a="http://schemas.openxmlformats.org/drawingml/2006/main">
            <a:off x="9391650" y="23526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+0,14</a:t>
            </a:r>
          </a:p>
        </p:txBody>
      </p:sp>
      <p:sp>
        <p:nvSpPr>
          <p:cNvPr id="26" name="">
            <a:extLst xmlns:a="http://schemas.openxmlformats.org/drawingml/2006/main">
              <a:ext uri="{FF2B5EF4-FFF2-40B4-BE49-F238E27FC236}">
                <a16:creationId xmlns:a16="http://schemas.microsoft.com/office/drawing/2014/main" id="{FA37BBA2-3D5C-4B8E-9C50-6F55098DF17B}"/>
              </a:ext>
            </a:extLst>
          </p:cNvPr>
          <p:cNvSpPr>
            <a:spLocks xmlns:a="http://schemas.openxmlformats.org/drawingml/2006/main" noGrp="1"/>
          </p:cNvSpPr>
          <p:nvPr/>
        </p:nvSpPr>
        <p:spPr>
          <a:xfrm xmlns:a="http://schemas.openxmlformats.org/drawingml/2006/main">
            <a:off x="609600" y="2800350"/>
            <a:ext cx="3257550" cy="6286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E6E6E6"/>
            </a:solidFill>
            <a:prstDash val="solid"/>
          </a:ln>
        </p:spPr>
      </p:sp>
      <p:sp>
        <p:nvSpPr>
          <p:cNvPr id="27" name="">
            <a:extLst xmlns:a="http://schemas.openxmlformats.org/drawingml/2006/main">
              <a:ext uri="{FF2B5EF4-FFF2-40B4-BE49-F238E27FC236}">
                <a16:creationId xmlns:a16="http://schemas.microsoft.com/office/drawing/2014/main" id="{1D5B423C-3969-40B6-B59D-FD5B43684880}"/>
              </a:ext>
            </a:extLst>
          </p:cNvPr>
          <p:cNvSpPr>
            <a:spLocks xmlns:a="http://schemas.openxmlformats.org/drawingml/2006/main" noGrp="1"/>
          </p:cNvSpPr>
          <p:nvPr/>
        </p:nvSpPr>
        <p:spPr>
          <a:xfrm xmlns:a="http://schemas.openxmlformats.org/drawingml/2006/main">
            <a:off x="704850" y="2981325"/>
            <a:ext cx="3067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22222"/>
                </a:solidFill>
                <a:latin typeface="Arial"/>
                <a:ea typeface="Arial"/>
                <a:cs typeface="Arial"/>
              </a:defRPr>
            </a:pPr>
            <a:r>
              <a:rPr sz="1275" b="1">
                <a:solidFill>
                  <a:srgbClr val="222222"/>
                </a:solidFill>
                <a:latin typeface="Arial"/>
                <a:ea typeface="Arial"/>
                <a:cs typeface="Arial"/>
              </a:rPr>
              <a:t>Madrid · Embajadores</a:t>
            </a:r>
          </a:p>
        </p:txBody>
      </p:sp>
      <p:sp>
        <p:nvSpPr>
          <p:cNvPr id="28" name="">
            <a:extLst xmlns:a="http://schemas.openxmlformats.org/drawingml/2006/main">
              <a:ext uri="{FF2B5EF4-FFF2-40B4-BE49-F238E27FC236}">
                <a16:creationId xmlns:a16="http://schemas.microsoft.com/office/drawing/2014/main" id="{10B2EA94-A0A1-4F98-97FC-68FA8129DEDE}"/>
              </a:ext>
            </a:extLst>
          </p:cNvPr>
          <p:cNvSpPr>
            <a:spLocks xmlns:a="http://schemas.openxmlformats.org/drawingml/2006/main" noGrp="1"/>
          </p:cNvSpPr>
          <p:nvPr/>
        </p:nvSpPr>
        <p:spPr>
          <a:xfrm xmlns:a="http://schemas.openxmlformats.org/drawingml/2006/main">
            <a:off x="3867150" y="2800350"/>
            <a:ext cx="2286000" cy="6286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E6E6E6"/>
            </a:solidFill>
            <a:prstDash val="solid"/>
          </a:ln>
        </p:spPr>
      </p:sp>
      <p:sp>
        <p:nvSpPr>
          <p:cNvPr id="29" name="">
            <a:extLst xmlns:a="http://schemas.openxmlformats.org/drawingml/2006/main">
              <a:ext uri="{FF2B5EF4-FFF2-40B4-BE49-F238E27FC236}">
                <a16:creationId xmlns:a16="http://schemas.microsoft.com/office/drawing/2014/main" id="{F6D45E63-E266-40F2-BE34-1837708B6CF3}"/>
              </a:ext>
            </a:extLst>
          </p:cNvPr>
          <p:cNvSpPr>
            <a:spLocks xmlns:a="http://schemas.openxmlformats.org/drawingml/2006/main" noGrp="1"/>
          </p:cNvSpPr>
          <p:nvPr/>
        </p:nvSpPr>
        <p:spPr>
          <a:xfrm xmlns:a="http://schemas.openxmlformats.org/drawingml/2006/main">
            <a:off x="3962400" y="29813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222222"/>
                </a:solidFill>
                <a:latin typeface="Arial"/>
                <a:ea typeface="Arial"/>
                <a:cs typeface="Arial"/>
              </a:defRPr>
            </a:pPr>
            <a:r>
              <a:rPr sz="1275" b="0">
                <a:solidFill>
                  <a:srgbClr val="222222"/>
                </a:solidFill>
                <a:latin typeface="Arial"/>
                <a:ea typeface="Arial"/>
                <a:cs typeface="Arial"/>
              </a:rPr>
              <a:t>Vivienda completa</a:t>
            </a:r>
          </a:p>
        </p:txBody>
      </p:sp>
      <p:sp>
        <p:nvSpPr>
          <p:cNvPr id="30" name="">
            <a:extLst xmlns:a="http://schemas.openxmlformats.org/drawingml/2006/main">
              <a:ext uri="{FF2B5EF4-FFF2-40B4-BE49-F238E27FC236}">
                <a16:creationId xmlns:a16="http://schemas.microsoft.com/office/drawing/2014/main" id="{618E24F0-84A1-4AC2-A480-68EFF00C3F8A}"/>
              </a:ext>
            </a:extLst>
          </p:cNvPr>
          <p:cNvSpPr>
            <a:spLocks xmlns:a="http://schemas.openxmlformats.org/drawingml/2006/main" noGrp="1"/>
          </p:cNvSpPr>
          <p:nvPr/>
        </p:nvSpPr>
        <p:spPr>
          <a:xfrm xmlns:a="http://schemas.openxmlformats.org/drawingml/2006/main">
            <a:off x="6153150" y="2800350"/>
            <a:ext cx="1428750" cy="6286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E6E6E6"/>
            </a:solidFill>
            <a:prstDash val="solid"/>
          </a:ln>
        </p:spPr>
      </p:sp>
      <p:sp>
        <p:nvSpPr>
          <p:cNvPr id="31" name="">
            <a:extLst xmlns:a="http://schemas.openxmlformats.org/drawingml/2006/main">
              <a:ext uri="{FF2B5EF4-FFF2-40B4-BE49-F238E27FC236}">
                <a16:creationId xmlns:a16="http://schemas.microsoft.com/office/drawing/2014/main" id="{B2F0A4FF-0B44-472F-B225-A903FF2A3305}"/>
              </a:ext>
            </a:extLst>
          </p:cNvPr>
          <p:cNvSpPr>
            <a:spLocks xmlns:a="http://schemas.openxmlformats.org/drawingml/2006/main" noGrp="1"/>
          </p:cNvSpPr>
          <p:nvPr/>
        </p:nvSpPr>
        <p:spPr>
          <a:xfrm xmlns:a="http://schemas.openxmlformats.org/drawingml/2006/main">
            <a:off x="6248400" y="298132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1.634</a:t>
            </a:r>
          </a:p>
        </p:txBody>
      </p:sp>
      <p:sp>
        <p:nvSpPr>
          <p:cNvPr id="32" name="">
            <a:extLst xmlns:a="http://schemas.openxmlformats.org/drawingml/2006/main">
              <a:ext uri="{FF2B5EF4-FFF2-40B4-BE49-F238E27FC236}">
                <a16:creationId xmlns:a16="http://schemas.microsoft.com/office/drawing/2014/main" id="{B7821309-A606-4099-A5FE-799ED9B528C2}"/>
              </a:ext>
            </a:extLst>
          </p:cNvPr>
          <p:cNvSpPr>
            <a:spLocks xmlns:a="http://schemas.openxmlformats.org/drawingml/2006/main" noGrp="1"/>
          </p:cNvSpPr>
          <p:nvPr/>
        </p:nvSpPr>
        <p:spPr>
          <a:xfrm xmlns:a="http://schemas.openxmlformats.org/drawingml/2006/main">
            <a:off x="7581900" y="2800350"/>
            <a:ext cx="1714500" cy="6286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E6E6E6"/>
            </a:solidFill>
            <a:prstDash val="solid"/>
          </a:ln>
        </p:spPr>
      </p:sp>
      <p:sp>
        <p:nvSpPr>
          <p:cNvPr id="33" name="">
            <a:extLst xmlns:a="http://schemas.openxmlformats.org/drawingml/2006/main">
              <a:ext uri="{FF2B5EF4-FFF2-40B4-BE49-F238E27FC236}">
                <a16:creationId xmlns:a16="http://schemas.microsoft.com/office/drawing/2014/main" id="{569F6C8D-2366-4FDD-A8C6-20B0810EDEF4}"/>
              </a:ext>
            </a:extLst>
          </p:cNvPr>
          <p:cNvSpPr>
            <a:spLocks xmlns:a="http://schemas.openxmlformats.org/drawingml/2006/main" noGrp="1"/>
          </p:cNvSpPr>
          <p:nvPr/>
        </p:nvSpPr>
        <p:spPr>
          <a:xfrm xmlns:a="http://schemas.openxmlformats.org/drawingml/2006/main">
            <a:off x="7677150" y="29813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88,46</a:t>
            </a:r>
          </a:p>
        </p:txBody>
      </p:sp>
      <p:sp>
        <p:nvSpPr>
          <p:cNvPr id="34" name="">
            <a:extLst xmlns:a="http://schemas.openxmlformats.org/drawingml/2006/main">
              <a:ext uri="{FF2B5EF4-FFF2-40B4-BE49-F238E27FC236}">
                <a16:creationId xmlns:a16="http://schemas.microsoft.com/office/drawing/2014/main" id="{66BC2C43-D27F-4188-922B-E3ACDA2C4C8C}"/>
              </a:ext>
            </a:extLst>
          </p:cNvPr>
          <p:cNvSpPr>
            <a:spLocks xmlns:a="http://schemas.openxmlformats.org/drawingml/2006/main" noGrp="1"/>
          </p:cNvSpPr>
          <p:nvPr/>
        </p:nvSpPr>
        <p:spPr>
          <a:xfrm xmlns:a="http://schemas.openxmlformats.org/drawingml/2006/main">
            <a:off x="9296400" y="2800350"/>
            <a:ext cx="1714500" cy="6286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E6E6E6"/>
            </a:solidFill>
            <a:prstDash val="solid"/>
          </a:ln>
        </p:spPr>
      </p:sp>
      <p:sp>
        <p:nvSpPr>
          <p:cNvPr id="35" name="">
            <a:extLst xmlns:a="http://schemas.openxmlformats.org/drawingml/2006/main">
              <a:ext uri="{FF2B5EF4-FFF2-40B4-BE49-F238E27FC236}">
                <a16:creationId xmlns:a16="http://schemas.microsoft.com/office/drawing/2014/main" id="{5117C347-10B1-489E-8809-9BB23390D657}"/>
              </a:ext>
            </a:extLst>
          </p:cNvPr>
          <p:cNvSpPr>
            <a:spLocks xmlns:a="http://schemas.openxmlformats.org/drawingml/2006/main" noGrp="1"/>
          </p:cNvSpPr>
          <p:nvPr/>
        </p:nvSpPr>
        <p:spPr>
          <a:xfrm xmlns:a="http://schemas.openxmlformats.org/drawingml/2006/main">
            <a:off x="9391650" y="29813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+0,39</a:t>
            </a:r>
          </a:p>
        </p:txBody>
      </p:sp>
      <p:sp>
        <p:nvSpPr>
          <p:cNvPr id="36" name="">
            <a:extLst xmlns:a="http://schemas.openxmlformats.org/drawingml/2006/main">
              <a:ext uri="{FF2B5EF4-FFF2-40B4-BE49-F238E27FC236}">
                <a16:creationId xmlns:a16="http://schemas.microsoft.com/office/drawing/2014/main" id="{38D18131-B284-4850-8876-812D03E58D77}"/>
              </a:ext>
            </a:extLst>
          </p:cNvPr>
          <p:cNvSpPr>
            <a:spLocks xmlns:a="http://schemas.openxmlformats.org/drawingml/2006/main" noGrp="1"/>
          </p:cNvSpPr>
          <p:nvPr/>
        </p:nvSpPr>
        <p:spPr>
          <a:xfrm xmlns:a="http://schemas.openxmlformats.org/drawingml/2006/main">
            <a:off x="609600" y="3429000"/>
            <a:ext cx="3257550" cy="628650"/>
          </a:xfrm>
          <a:prstGeom xmlns:a="http://schemas.openxmlformats.org/drawingml/2006/main" prst="roundRect">
            <a:avLst>
              <a:gd name="adj" fmla="val 0"/>
            </a:avLst>
          </a:prstGeom>
          <a:solidFill xmlns:a="http://schemas.openxmlformats.org/drawingml/2006/main">
            <a:srgbClr val="FFF7F8"/>
          </a:solidFill>
          <a:ln xmlns:a="http://schemas.openxmlformats.org/drawingml/2006/main" w="9525">
            <a:solidFill>
              <a:srgbClr val="E6E6E6"/>
            </a:solidFill>
            <a:prstDash val="solid"/>
          </a:ln>
        </p:spPr>
      </p:sp>
      <p:sp>
        <p:nvSpPr>
          <p:cNvPr id="37" name="">
            <a:extLst xmlns:a="http://schemas.openxmlformats.org/drawingml/2006/main">
              <a:ext uri="{FF2B5EF4-FFF2-40B4-BE49-F238E27FC236}">
                <a16:creationId xmlns:a16="http://schemas.microsoft.com/office/drawing/2014/main" id="{D96152F3-89B2-4C1D-B1B6-EEDB1FA1C927}"/>
              </a:ext>
            </a:extLst>
          </p:cNvPr>
          <p:cNvSpPr>
            <a:spLocks xmlns:a="http://schemas.openxmlformats.org/drawingml/2006/main" noGrp="1"/>
          </p:cNvSpPr>
          <p:nvPr/>
        </p:nvSpPr>
        <p:spPr>
          <a:xfrm xmlns:a="http://schemas.openxmlformats.org/drawingml/2006/main">
            <a:off x="704850" y="3609975"/>
            <a:ext cx="3067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22222"/>
                </a:solidFill>
                <a:latin typeface="Arial"/>
                <a:ea typeface="Arial"/>
                <a:cs typeface="Arial"/>
              </a:defRPr>
            </a:pPr>
            <a:r>
              <a:rPr sz="1275" b="1">
                <a:solidFill>
                  <a:srgbClr val="222222"/>
                </a:solidFill>
                <a:latin typeface="Arial"/>
                <a:ea typeface="Arial"/>
                <a:cs typeface="Arial"/>
              </a:rPr>
              <a:t>Milan · CENTRALE</a:t>
            </a:r>
          </a:p>
        </p:txBody>
      </p:sp>
      <p:sp>
        <p:nvSpPr>
          <p:cNvPr id="38" name="">
            <a:extLst xmlns:a="http://schemas.openxmlformats.org/drawingml/2006/main">
              <a:ext uri="{FF2B5EF4-FFF2-40B4-BE49-F238E27FC236}">
                <a16:creationId xmlns:a16="http://schemas.microsoft.com/office/drawing/2014/main" id="{92DAE4C7-6F80-4B55-B41E-217E38170D10}"/>
              </a:ext>
            </a:extLst>
          </p:cNvPr>
          <p:cNvSpPr>
            <a:spLocks xmlns:a="http://schemas.openxmlformats.org/drawingml/2006/main" noGrp="1"/>
          </p:cNvSpPr>
          <p:nvPr/>
        </p:nvSpPr>
        <p:spPr>
          <a:xfrm xmlns:a="http://schemas.openxmlformats.org/drawingml/2006/main">
            <a:off x="3867150" y="3429000"/>
            <a:ext cx="2286000" cy="628650"/>
          </a:xfrm>
          <a:prstGeom xmlns:a="http://schemas.openxmlformats.org/drawingml/2006/main" prst="roundRect">
            <a:avLst>
              <a:gd name="adj" fmla="val 0"/>
            </a:avLst>
          </a:prstGeom>
          <a:solidFill xmlns:a="http://schemas.openxmlformats.org/drawingml/2006/main">
            <a:srgbClr val="FFF7F8"/>
          </a:solidFill>
          <a:ln xmlns:a="http://schemas.openxmlformats.org/drawingml/2006/main" w="9525">
            <a:solidFill>
              <a:srgbClr val="E6E6E6"/>
            </a:solidFill>
            <a:prstDash val="solid"/>
          </a:ln>
        </p:spPr>
      </p:sp>
      <p:sp>
        <p:nvSpPr>
          <p:cNvPr id="39" name="">
            <a:extLst xmlns:a="http://schemas.openxmlformats.org/drawingml/2006/main">
              <a:ext uri="{FF2B5EF4-FFF2-40B4-BE49-F238E27FC236}">
                <a16:creationId xmlns:a16="http://schemas.microsoft.com/office/drawing/2014/main" id="{7C777F66-2DC6-4247-A2B0-0258968F380A}"/>
              </a:ext>
            </a:extLst>
          </p:cNvPr>
          <p:cNvSpPr>
            <a:spLocks xmlns:a="http://schemas.openxmlformats.org/drawingml/2006/main" noGrp="1"/>
          </p:cNvSpPr>
          <p:nvPr/>
        </p:nvSpPr>
        <p:spPr>
          <a:xfrm xmlns:a="http://schemas.openxmlformats.org/drawingml/2006/main">
            <a:off x="3962400" y="36099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222222"/>
                </a:solidFill>
                <a:latin typeface="Arial"/>
                <a:ea typeface="Arial"/>
                <a:cs typeface="Arial"/>
              </a:defRPr>
            </a:pPr>
            <a:r>
              <a:rPr sz="1275" b="0">
                <a:solidFill>
                  <a:srgbClr val="222222"/>
                </a:solidFill>
                <a:latin typeface="Arial"/>
                <a:ea typeface="Arial"/>
                <a:cs typeface="Arial"/>
              </a:rPr>
              <a:t>Vivienda completa</a:t>
            </a:r>
          </a:p>
        </p:txBody>
      </p:sp>
      <p:sp>
        <p:nvSpPr>
          <p:cNvPr id="40" name="">
            <a:extLst xmlns:a="http://schemas.openxmlformats.org/drawingml/2006/main">
              <a:ext uri="{FF2B5EF4-FFF2-40B4-BE49-F238E27FC236}">
                <a16:creationId xmlns:a16="http://schemas.microsoft.com/office/drawing/2014/main" id="{563B4967-D778-4F7B-8461-4E0AB66C7B5E}"/>
              </a:ext>
            </a:extLst>
          </p:cNvPr>
          <p:cNvSpPr>
            <a:spLocks xmlns:a="http://schemas.openxmlformats.org/drawingml/2006/main" noGrp="1"/>
          </p:cNvSpPr>
          <p:nvPr/>
        </p:nvSpPr>
        <p:spPr>
          <a:xfrm xmlns:a="http://schemas.openxmlformats.org/drawingml/2006/main">
            <a:off x="6153150" y="3429000"/>
            <a:ext cx="1428750" cy="628650"/>
          </a:xfrm>
          <a:prstGeom xmlns:a="http://schemas.openxmlformats.org/drawingml/2006/main" prst="roundRect">
            <a:avLst>
              <a:gd name="adj" fmla="val 0"/>
            </a:avLst>
          </a:prstGeom>
          <a:solidFill xmlns:a="http://schemas.openxmlformats.org/drawingml/2006/main">
            <a:srgbClr val="FFF7F8"/>
          </a:solidFill>
          <a:ln xmlns:a="http://schemas.openxmlformats.org/drawingml/2006/main" w="9525">
            <a:solidFill>
              <a:srgbClr val="E6E6E6"/>
            </a:solidFill>
            <a:prstDash val="solid"/>
          </a:ln>
        </p:spPr>
      </p:sp>
      <p:sp>
        <p:nvSpPr>
          <p:cNvPr id="41" name="">
            <a:extLst xmlns:a="http://schemas.openxmlformats.org/drawingml/2006/main">
              <a:ext uri="{FF2B5EF4-FFF2-40B4-BE49-F238E27FC236}">
                <a16:creationId xmlns:a16="http://schemas.microsoft.com/office/drawing/2014/main" id="{B2F52121-ED3B-4A5F-A3FC-1FC3ADD3C36E}"/>
              </a:ext>
            </a:extLst>
          </p:cNvPr>
          <p:cNvSpPr>
            <a:spLocks xmlns:a="http://schemas.openxmlformats.org/drawingml/2006/main" noGrp="1"/>
          </p:cNvSpPr>
          <p:nvPr/>
        </p:nvSpPr>
        <p:spPr>
          <a:xfrm xmlns:a="http://schemas.openxmlformats.org/drawingml/2006/main">
            <a:off x="6248400" y="36099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495</a:t>
            </a:r>
          </a:p>
        </p:txBody>
      </p:sp>
      <p:sp>
        <p:nvSpPr>
          <p:cNvPr id="42" name="">
            <a:extLst xmlns:a="http://schemas.openxmlformats.org/drawingml/2006/main">
              <a:ext uri="{FF2B5EF4-FFF2-40B4-BE49-F238E27FC236}">
                <a16:creationId xmlns:a16="http://schemas.microsoft.com/office/drawing/2014/main" id="{FC388582-9FB4-45C5-A7D6-8D3C160F204D}"/>
              </a:ext>
            </a:extLst>
          </p:cNvPr>
          <p:cNvSpPr>
            <a:spLocks xmlns:a="http://schemas.openxmlformats.org/drawingml/2006/main" noGrp="1"/>
          </p:cNvSpPr>
          <p:nvPr/>
        </p:nvSpPr>
        <p:spPr>
          <a:xfrm xmlns:a="http://schemas.openxmlformats.org/drawingml/2006/main">
            <a:off x="7581900" y="3429000"/>
            <a:ext cx="1714500" cy="628650"/>
          </a:xfrm>
          <a:prstGeom xmlns:a="http://schemas.openxmlformats.org/drawingml/2006/main" prst="roundRect">
            <a:avLst>
              <a:gd name="adj" fmla="val 0"/>
            </a:avLst>
          </a:prstGeom>
          <a:solidFill xmlns:a="http://schemas.openxmlformats.org/drawingml/2006/main">
            <a:srgbClr val="FFF7F8"/>
          </a:solidFill>
          <a:ln xmlns:a="http://schemas.openxmlformats.org/drawingml/2006/main" w="9525">
            <a:solidFill>
              <a:srgbClr val="E6E6E6"/>
            </a:solidFill>
            <a:prstDash val="solid"/>
          </a:ln>
        </p:spPr>
      </p:sp>
      <p:sp>
        <p:nvSpPr>
          <p:cNvPr id="43" name="">
            <a:extLst xmlns:a="http://schemas.openxmlformats.org/drawingml/2006/main">
              <a:ext uri="{FF2B5EF4-FFF2-40B4-BE49-F238E27FC236}">
                <a16:creationId xmlns:a16="http://schemas.microsoft.com/office/drawing/2014/main" id="{713451D5-E89B-48AA-8842-5E9F1DAED499}"/>
              </a:ext>
            </a:extLst>
          </p:cNvPr>
          <p:cNvSpPr>
            <a:spLocks xmlns:a="http://schemas.openxmlformats.org/drawingml/2006/main" noGrp="1"/>
          </p:cNvSpPr>
          <p:nvPr/>
        </p:nvSpPr>
        <p:spPr>
          <a:xfrm xmlns:a="http://schemas.openxmlformats.org/drawingml/2006/main">
            <a:off x="7677150" y="36099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92,50</a:t>
            </a:r>
          </a:p>
        </p:txBody>
      </p:sp>
      <p:sp>
        <p:nvSpPr>
          <p:cNvPr id="44" name="">
            <a:extLst xmlns:a="http://schemas.openxmlformats.org/drawingml/2006/main">
              <a:ext uri="{FF2B5EF4-FFF2-40B4-BE49-F238E27FC236}">
                <a16:creationId xmlns:a16="http://schemas.microsoft.com/office/drawing/2014/main" id="{3FE4EAA5-43B4-47D9-9F2C-7C5E993B312E}"/>
              </a:ext>
            </a:extLst>
          </p:cNvPr>
          <p:cNvSpPr>
            <a:spLocks xmlns:a="http://schemas.openxmlformats.org/drawingml/2006/main" noGrp="1"/>
          </p:cNvSpPr>
          <p:nvPr/>
        </p:nvSpPr>
        <p:spPr>
          <a:xfrm xmlns:a="http://schemas.openxmlformats.org/drawingml/2006/main">
            <a:off x="9296400" y="3429000"/>
            <a:ext cx="1714500" cy="628650"/>
          </a:xfrm>
          <a:prstGeom xmlns:a="http://schemas.openxmlformats.org/drawingml/2006/main" prst="roundRect">
            <a:avLst>
              <a:gd name="adj" fmla="val 0"/>
            </a:avLst>
          </a:prstGeom>
          <a:solidFill xmlns:a="http://schemas.openxmlformats.org/drawingml/2006/main">
            <a:srgbClr val="FFF7F8"/>
          </a:solidFill>
          <a:ln xmlns:a="http://schemas.openxmlformats.org/drawingml/2006/main" w="9525">
            <a:solidFill>
              <a:srgbClr val="E6E6E6"/>
            </a:solidFill>
            <a:prstDash val="solid"/>
          </a:ln>
        </p:spPr>
      </p:sp>
      <p:sp>
        <p:nvSpPr>
          <p:cNvPr id="45" name="">
            <a:extLst xmlns:a="http://schemas.openxmlformats.org/drawingml/2006/main">
              <a:ext uri="{FF2B5EF4-FFF2-40B4-BE49-F238E27FC236}">
                <a16:creationId xmlns:a16="http://schemas.microsoft.com/office/drawing/2014/main" id="{C120040E-BD38-41BF-AE66-F3374EED1019}"/>
              </a:ext>
            </a:extLst>
          </p:cNvPr>
          <p:cNvSpPr>
            <a:spLocks xmlns:a="http://schemas.openxmlformats.org/drawingml/2006/main" noGrp="1"/>
          </p:cNvSpPr>
          <p:nvPr/>
        </p:nvSpPr>
        <p:spPr>
          <a:xfrm xmlns:a="http://schemas.openxmlformats.org/drawingml/2006/main">
            <a:off x="9391650" y="36099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+0,32</a:t>
            </a:r>
          </a:p>
        </p:txBody>
      </p:sp>
      <p:sp>
        <p:nvSpPr>
          <p:cNvPr id="46" name="">
            <a:extLst xmlns:a="http://schemas.openxmlformats.org/drawingml/2006/main">
              <a:ext uri="{FF2B5EF4-FFF2-40B4-BE49-F238E27FC236}">
                <a16:creationId xmlns:a16="http://schemas.microsoft.com/office/drawing/2014/main" id="{BCDF083E-BFA3-4E1F-B453-243DE9879624}"/>
              </a:ext>
            </a:extLst>
          </p:cNvPr>
          <p:cNvSpPr>
            <a:spLocks xmlns:a="http://schemas.openxmlformats.org/drawingml/2006/main" noGrp="1"/>
          </p:cNvSpPr>
          <p:nvPr/>
        </p:nvSpPr>
        <p:spPr>
          <a:xfrm xmlns:a="http://schemas.openxmlformats.org/drawingml/2006/main">
            <a:off x="609600" y="4057650"/>
            <a:ext cx="3257550" cy="6286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E6E6E6"/>
            </a:solidFill>
            <a:prstDash val="solid"/>
          </a:ln>
        </p:spPr>
      </p:sp>
      <p:sp>
        <p:nvSpPr>
          <p:cNvPr id="47" name="">
            <a:extLst xmlns:a="http://schemas.openxmlformats.org/drawingml/2006/main">
              <a:ext uri="{FF2B5EF4-FFF2-40B4-BE49-F238E27FC236}">
                <a16:creationId xmlns:a16="http://schemas.microsoft.com/office/drawing/2014/main" id="{95376A1B-F22D-4751-AF39-48BAD1377415}"/>
              </a:ext>
            </a:extLst>
          </p:cNvPr>
          <p:cNvSpPr>
            <a:spLocks xmlns:a="http://schemas.openxmlformats.org/drawingml/2006/main" noGrp="1"/>
          </p:cNvSpPr>
          <p:nvPr/>
        </p:nvSpPr>
        <p:spPr>
          <a:xfrm xmlns:a="http://schemas.openxmlformats.org/drawingml/2006/main">
            <a:off x="704850" y="4238625"/>
            <a:ext cx="3067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22222"/>
                </a:solidFill>
                <a:latin typeface="Arial"/>
                <a:ea typeface="Arial"/>
                <a:cs typeface="Arial"/>
              </a:defRPr>
            </a:pPr>
            <a:r>
              <a:rPr sz="1275" b="1">
                <a:solidFill>
                  <a:srgbClr val="222222"/>
                </a:solidFill>
                <a:latin typeface="Arial"/>
                <a:ea typeface="Arial"/>
                <a:cs typeface="Arial"/>
              </a:rPr>
              <a:t>Sydney · Auburn</a:t>
            </a:r>
          </a:p>
        </p:txBody>
      </p:sp>
      <p:sp>
        <p:nvSpPr>
          <p:cNvPr id="48" name="">
            <a:extLst xmlns:a="http://schemas.openxmlformats.org/drawingml/2006/main">
              <a:ext uri="{FF2B5EF4-FFF2-40B4-BE49-F238E27FC236}">
                <a16:creationId xmlns:a16="http://schemas.microsoft.com/office/drawing/2014/main" id="{49A40316-C66B-44F6-A942-A60EC63CA1B2}"/>
              </a:ext>
            </a:extLst>
          </p:cNvPr>
          <p:cNvSpPr>
            <a:spLocks xmlns:a="http://schemas.openxmlformats.org/drawingml/2006/main" noGrp="1"/>
          </p:cNvSpPr>
          <p:nvPr/>
        </p:nvSpPr>
        <p:spPr>
          <a:xfrm xmlns:a="http://schemas.openxmlformats.org/drawingml/2006/main">
            <a:off x="3867150" y="4057650"/>
            <a:ext cx="2286000" cy="6286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E6E6E6"/>
            </a:solidFill>
            <a:prstDash val="solid"/>
          </a:ln>
        </p:spPr>
      </p:sp>
      <p:sp>
        <p:nvSpPr>
          <p:cNvPr id="49" name="">
            <a:extLst xmlns:a="http://schemas.openxmlformats.org/drawingml/2006/main">
              <a:ext uri="{FF2B5EF4-FFF2-40B4-BE49-F238E27FC236}">
                <a16:creationId xmlns:a16="http://schemas.microsoft.com/office/drawing/2014/main" id="{C4093F3B-4D57-4ABA-916C-10E95AF1E83E}"/>
              </a:ext>
            </a:extLst>
          </p:cNvPr>
          <p:cNvSpPr>
            <a:spLocks xmlns:a="http://schemas.openxmlformats.org/drawingml/2006/main" noGrp="1"/>
          </p:cNvSpPr>
          <p:nvPr/>
        </p:nvSpPr>
        <p:spPr>
          <a:xfrm xmlns:a="http://schemas.openxmlformats.org/drawingml/2006/main">
            <a:off x="3962400" y="42386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222222"/>
                </a:solidFill>
                <a:latin typeface="Arial"/>
                <a:ea typeface="Arial"/>
                <a:cs typeface="Arial"/>
              </a:defRPr>
            </a:pPr>
            <a:r>
              <a:rPr sz="1275" b="0">
                <a:solidFill>
                  <a:srgbClr val="222222"/>
                </a:solidFill>
                <a:latin typeface="Arial"/>
                <a:ea typeface="Arial"/>
                <a:cs typeface="Arial"/>
              </a:rPr>
              <a:t>Vivienda completa</a:t>
            </a:r>
          </a:p>
        </p:txBody>
      </p:sp>
      <p:sp>
        <p:nvSpPr>
          <p:cNvPr id="50" name="">
            <a:extLst xmlns:a="http://schemas.openxmlformats.org/drawingml/2006/main">
              <a:ext uri="{FF2B5EF4-FFF2-40B4-BE49-F238E27FC236}">
                <a16:creationId xmlns:a16="http://schemas.microsoft.com/office/drawing/2014/main" id="{370B6563-4253-4984-B2F4-DBE7033C1FD4}"/>
              </a:ext>
            </a:extLst>
          </p:cNvPr>
          <p:cNvSpPr>
            <a:spLocks xmlns:a="http://schemas.openxmlformats.org/drawingml/2006/main" noGrp="1"/>
          </p:cNvSpPr>
          <p:nvPr/>
        </p:nvSpPr>
        <p:spPr>
          <a:xfrm xmlns:a="http://schemas.openxmlformats.org/drawingml/2006/main">
            <a:off x="6153150" y="4057650"/>
            <a:ext cx="1428750" cy="6286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E6E6E6"/>
            </a:solidFill>
            <a:prstDash val="solid"/>
          </a:ln>
        </p:spPr>
      </p:sp>
      <p:sp>
        <p:nvSpPr>
          <p:cNvPr id="51" name="">
            <a:extLst xmlns:a="http://schemas.openxmlformats.org/drawingml/2006/main">
              <a:ext uri="{FF2B5EF4-FFF2-40B4-BE49-F238E27FC236}">
                <a16:creationId xmlns:a16="http://schemas.microsoft.com/office/drawing/2014/main" id="{B1372BD5-0788-4981-8763-765D1C9D78DC}"/>
              </a:ext>
            </a:extLst>
          </p:cNvPr>
          <p:cNvSpPr>
            <a:spLocks xmlns:a="http://schemas.openxmlformats.org/drawingml/2006/main" noGrp="1"/>
          </p:cNvSpPr>
          <p:nvPr/>
        </p:nvSpPr>
        <p:spPr>
          <a:xfrm xmlns:a="http://schemas.openxmlformats.org/drawingml/2006/main">
            <a:off x="6248400" y="423862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310</a:t>
            </a:r>
          </a:p>
        </p:txBody>
      </p:sp>
      <p:sp>
        <p:nvSpPr>
          <p:cNvPr id="52" name="">
            <a:extLst xmlns:a="http://schemas.openxmlformats.org/drawingml/2006/main">
              <a:ext uri="{FF2B5EF4-FFF2-40B4-BE49-F238E27FC236}">
                <a16:creationId xmlns:a16="http://schemas.microsoft.com/office/drawing/2014/main" id="{D35F619D-D0A4-4F9B-ABFE-5260B21BEB97}"/>
              </a:ext>
            </a:extLst>
          </p:cNvPr>
          <p:cNvSpPr>
            <a:spLocks xmlns:a="http://schemas.openxmlformats.org/drawingml/2006/main" noGrp="1"/>
          </p:cNvSpPr>
          <p:nvPr/>
        </p:nvSpPr>
        <p:spPr>
          <a:xfrm xmlns:a="http://schemas.openxmlformats.org/drawingml/2006/main">
            <a:off x="7581900" y="4057650"/>
            <a:ext cx="1714500" cy="6286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E6E6E6"/>
            </a:solidFill>
            <a:prstDash val="solid"/>
          </a:ln>
        </p:spPr>
      </p:sp>
      <p:sp>
        <p:nvSpPr>
          <p:cNvPr id="53" name="">
            <a:extLst xmlns:a="http://schemas.openxmlformats.org/drawingml/2006/main">
              <a:ext uri="{FF2B5EF4-FFF2-40B4-BE49-F238E27FC236}">
                <a16:creationId xmlns:a16="http://schemas.microsoft.com/office/drawing/2014/main" id="{C04A57CB-1A8D-43B7-979A-A5288658FD88}"/>
              </a:ext>
            </a:extLst>
          </p:cNvPr>
          <p:cNvSpPr>
            <a:spLocks xmlns:a="http://schemas.openxmlformats.org/drawingml/2006/main" noGrp="1"/>
          </p:cNvSpPr>
          <p:nvPr/>
        </p:nvSpPr>
        <p:spPr>
          <a:xfrm xmlns:a="http://schemas.openxmlformats.org/drawingml/2006/main">
            <a:off x="7677150" y="4238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88,71</a:t>
            </a:r>
          </a:p>
        </p:txBody>
      </p:sp>
      <p:sp>
        <p:nvSpPr>
          <p:cNvPr id="54" name="">
            <a:extLst xmlns:a="http://schemas.openxmlformats.org/drawingml/2006/main">
              <a:ext uri="{FF2B5EF4-FFF2-40B4-BE49-F238E27FC236}">
                <a16:creationId xmlns:a16="http://schemas.microsoft.com/office/drawing/2014/main" id="{59D8D6EF-1F80-4C30-A92D-CFF9AFCA87F2}"/>
              </a:ext>
            </a:extLst>
          </p:cNvPr>
          <p:cNvSpPr>
            <a:spLocks xmlns:a="http://schemas.openxmlformats.org/drawingml/2006/main" noGrp="1"/>
          </p:cNvSpPr>
          <p:nvPr/>
        </p:nvSpPr>
        <p:spPr>
          <a:xfrm xmlns:a="http://schemas.openxmlformats.org/drawingml/2006/main">
            <a:off x="9296400" y="4057650"/>
            <a:ext cx="1714500" cy="6286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E6E6E6"/>
            </a:solidFill>
            <a:prstDash val="solid"/>
          </a:ln>
        </p:spPr>
      </p:sp>
      <p:sp>
        <p:nvSpPr>
          <p:cNvPr id="55" name="">
            <a:extLst xmlns:a="http://schemas.openxmlformats.org/drawingml/2006/main">
              <a:ext uri="{FF2B5EF4-FFF2-40B4-BE49-F238E27FC236}">
                <a16:creationId xmlns:a16="http://schemas.microsoft.com/office/drawing/2014/main" id="{C29530AA-692F-44E8-8261-458776F0508A}"/>
              </a:ext>
            </a:extLst>
          </p:cNvPr>
          <p:cNvSpPr>
            <a:spLocks xmlns:a="http://schemas.openxmlformats.org/drawingml/2006/main" noGrp="1"/>
          </p:cNvSpPr>
          <p:nvPr/>
        </p:nvSpPr>
        <p:spPr>
          <a:xfrm xmlns:a="http://schemas.openxmlformats.org/drawingml/2006/main">
            <a:off x="9391650" y="4238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222222"/>
                </a:solidFill>
                <a:latin typeface="Arial"/>
                <a:ea typeface="Arial"/>
                <a:cs typeface="Arial"/>
              </a:defRPr>
            </a:pPr>
            <a:r>
              <a:rPr sz="1275" b="0">
                <a:solidFill>
                  <a:srgbClr val="222222"/>
                </a:solidFill>
                <a:latin typeface="Arial"/>
                <a:ea typeface="Arial"/>
                <a:cs typeface="Arial"/>
              </a:rPr>
              <a:t>+1,28</a:t>
            </a:r>
          </a:p>
        </p:txBody>
      </p:sp>
      <p:sp>
        <p:nvSpPr>
          <p:cNvPr id="56" name="">
            <a:extLst xmlns:a="http://schemas.openxmlformats.org/drawingml/2006/main">
              <a:ext uri="{FF2B5EF4-FFF2-40B4-BE49-F238E27FC236}">
                <a16:creationId xmlns:a16="http://schemas.microsoft.com/office/drawing/2014/main" id="{024F8B44-B519-4E0C-96B0-FF7933DD3537}"/>
              </a:ext>
            </a:extLst>
          </p:cNvPr>
          <p:cNvSpPr>
            <a:spLocks xmlns:a="http://schemas.openxmlformats.org/drawingml/2006/main" noGrp="1"/>
          </p:cNvSpPr>
          <p:nvPr/>
        </p:nvSpPr>
        <p:spPr>
          <a:xfrm xmlns:a="http://schemas.openxmlformats.org/drawingml/2006/main">
            <a:off x="609600" y="4953000"/>
            <a:ext cx="638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A6A6A"/>
                </a:solidFill>
                <a:latin typeface="Arial"/>
                <a:ea typeface="Arial"/>
                <a:cs typeface="Arial"/>
              </a:defRPr>
            </a:pPr>
            <a:r>
              <a:rPr sz="1275" b="0">
                <a:solidFill>
                  <a:srgbClr val="6A6A6A"/>
                </a:solidFill>
                <a:latin typeface="Arial"/>
                <a:ea typeface="Arial"/>
                <a:cs typeface="Arial"/>
              </a:rPr>
              <a:t>Índice 100 = mediana del mismo tipo de alojamiento en la ciudad</a:t>
            </a:r>
          </a:p>
        </p:txBody>
      </p:sp>
      <p:sp>
        <p:nvSpPr>
          <p:cNvPr id="57" name="">
            <a:extLst xmlns:a="http://schemas.openxmlformats.org/drawingml/2006/main">
              <a:ext uri="{FF2B5EF4-FFF2-40B4-BE49-F238E27FC236}">
                <a16:creationId xmlns:a16="http://schemas.microsoft.com/office/drawing/2014/main" id="{28DC19B7-A681-4E79-A97B-817DA61A1982}"/>
              </a:ext>
            </a:extLst>
          </p:cNvPr>
          <p:cNvSpPr>
            <a:spLocks xmlns:a="http://schemas.openxmlformats.org/drawingml/2006/main" noGrp="1"/>
          </p:cNvSpPr>
          <p:nvPr/>
        </p:nvSpPr>
        <p:spPr>
          <a:xfrm xmlns:a="http://schemas.openxmlformats.org/drawingml/2006/main">
            <a:off x="7658100" y="4857750"/>
            <a:ext cx="3886200" cy="1066800"/>
          </a:xfrm>
          <a:prstGeom xmlns:a="http://schemas.openxmlformats.org/drawingml/2006/main" prst="roundRect">
            <a:avLst>
              <a:gd name="adj" fmla="val 16071"/>
            </a:avLst>
          </a:prstGeom>
          <a:solidFill xmlns:a="http://schemas.openxmlformats.org/drawingml/2006/main">
            <a:srgbClr val="F4FBFA"/>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DE60310-5B1E-4EAE-86E8-42C0CB126EA6}"/>
              </a:ext>
            </a:extLst>
          </p:cNvPr>
          <p:cNvSpPr>
            <a:spLocks xmlns:a="http://schemas.openxmlformats.org/drawingml/2006/main" noGrp="1"/>
          </p:cNvSpPr>
          <p:nvPr/>
        </p:nvSpPr>
        <p:spPr>
          <a:xfrm xmlns:a="http://schemas.openxmlformats.org/drawingml/2006/main">
            <a:off x="7886700" y="50482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0A699"/>
                </a:solidFill>
                <a:latin typeface="Arial"/>
                <a:ea typeface="Arial"/>
                <a:cs typeface="Arial"/>
              </a:defRPr>
            </a:pPr>
            <a:r>
              <a:rPr sz="1200" b="1">
                <a:solidFill>
                  <a:srgbClr val="00A699"/>
                </a:solidFill>
                <a:latin typeface="Arial"/>
                <a:ea typeface="Arial"/>
                <a:cs typeface="Arial"/>
              </a:rPr>
              <a:t>Lectura correcta</a:t>
            </a:r>
          </a:p>
        </p:txBody>
      </p:sp>
      <p:sp>
        <p:nvSpPr>
          <p:cNvPr id="59" name="">
            <a:extLst xmlns:a="http://schemas.openxmlformats.org/drawingml/2006/main">
              <a:ext uri="{FF2B5EF4-FFF2-40B4-BE49-F238E27FC236}">
                <a16:creationId xmlns:a16="http://schemas.microsoft.com/office/drawing/2014/main" id="{9EEC6514-E0CB-4434-8B1D-3823B1AF3FC9}"/>
              </a:ext>
            </a:extLst>
          </p:cNvPr>
          <p:cNvSpPr>
            <a:spLocks xmlns:a="http://schemas.openxmlformats.org/drawingml/2006/main" noGrp="1"/>
          </p:cNvSpPr>
          <p:nvPr/>
        </p:nvSpPr>
        <p:spPr>
          <a:xfrm xmlns:a="http://schemas.openxmlformats.org/drawingml/2006/main">
            <a:off x="7886700" y="537210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22222"/>
                </a:solidFill>
                <a:latin typeface="Arial"/>
                <a:ea typeface="Arial"/>
                <a:cs typeface="Arial"/>
              </a:defRPr>
            </a:pPr>
            <a:r>
              <a:rPr sz="1350" b="1">
                <a:solidFill>
                  <a:srgbClr val="222222"/>
                </a:solidFill>
                <a:latin typeface="Arial"/>
                <a:ea typeface="Arial"/>
                <a:cs typeface="Arial"/>
              </a:rPr>
              <a:t>Son candidatos para investigar. No constituyen un ranking de rentabilidad.</a:t>
            </a:r>
          </a:p>
        </p:txBody>
      </p:sp>
    </p:spTree>
    <p:extLst>
      <p:ext uri="{BB962C8B-B14F-4D97-AF65-F5344CB8AC3E}">
        <p14:creationId xmlns:p14="http://schemas.microsoft.com/office/powerpoint/2010/main" val="7500034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53D0684-35F4-460D-B9E3-4F98DA351801}"/>
              </a:ext>
            </a:extLst>
          </p:cNvPr>
          <p:cNvSpPr>
            <a:spLocks xmlns:a="http://schemas.openxmlformats.org/drawingml/2006/main" noGrp="1"/>
          </p:cNvSpPr>
          <p:nvPr/>
        </p:nvSpPr>
        <p:spPr>
          <a:xfrm xmlns:a="http://schemas.openxmlformats.org/drawingml/2006/main">
            <a:off x="609600" y="304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385C"/>
                </a:solidFill>
                <a:latin typeface="Arial"/>
                <a:ea typeface="Arial"/>
                <a:cs typeface="Arial"/>
              </a:defRPr>
            </a:pPr>
            <a:r>
              <a:rPr sz="975" b="1">
                <a:solidFill>
                  <a:srgbClr val="FF385C"/>
                </a:solidFill>
                <a:latin typeface="Arial"/>
                <a:ea typeface="Arial"/>
                <a:cs typeface="Arial"/>
              </a:rPr>
              <a:t>HALLAZGO 3</a:t>
            </a:r>
          </a:p>
        </p:txBody>
      </p:sp>
      <p:sp>
        <p:nvSpPr>
          <p:cNvPr id="2" name="">
            <a:extLst xmlns:a="http://schemas.openxmlformats.org/drawingml/2006/main">
              <a:ext uri="{FF2B5EF4-FFF2-40B4-BE49-F238E27FC236}">
                <a16:creationId xmlns:a16="http://schemas.microsoft.com/office/drawing/2014/main" id="{54E47840-D2C4-424E-A8D0-8C0308F7376A}"/>
              </a:ext>
            </a:extLst>
          </p:cNvPr>
          <p:cNvSpPr>
            <a:spLocks xmlns:a="http://schemas.openxmlformats.org/drawingml/2006/main" noGrp="1"/>
          </p:cNvSpPr>
          <p:nvPr/>
        </p:nvSpPr>
        <p:spPr>
          <a:xfrm xmlns:a="http://schemas.openxmlformats.org/drawingml/2006/main">
            <a:off x="609600" y="5905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335"/>
          </a:bodyPr>
          <a:lstStyle xmlns:a="http://schemas.openxmlformats.org/drawingml/2006/main"/>
          <a:p xmlns:a="http://schemas.openxmlformats.org/drawingml/2006/main">
            <a:pPr algn="l">
              <a:defRPr sz="2700" b="1">
                <a:solidFill>
                  <a:srgbClr val="222222"/>
                </a:solidFill>
                <a:latin typeface="Arial"/>
                <a:ea typeface="Arial"/>
                <a:cs typeface="Arial"/>
              </a:defRPr>
            </a:pPr>
            <a:r>
              <a:rPr sz="2700" b="1">
                <a:solidFill>
                  <a:srgbClr val="222222"/>
                </a:solidFill>
                <a:latin typeface="Arial"/>
                <a:ea typeface="Arial"/>
                <a:cs typeface="Arial"/>
              </a:rPr>
              <a:t>Las estancias mínimas largas muestran menor actividad en las seis ciudades</a:t>
            </a:r>
          </a:p>
        </p:txBody>
      </p:sp>
      <p:sp>
        <p:nvSpPr>
          <p:cNvPr id="3" name="">
            <a:extLst xmlns:a="http://schemas.openxmlformats.org/drawingml/2006/main">
              <a:ext uri="{FF2B5EF4-FFF2-40B4-BE49-F238E27FC236}">
                <a16:creationId xmlns:a16="http://schemas.microsoft.com/office/drawing/2014/main" id="{62464877-3331-4A28-A14A-8C6249CDCA61}"/>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E6E6E6"/>
            </a:solidFill>
            <a:prstDash val="solid"/>
          </a:ln>
        </p:spPr>
      </p:sp>
      <p:sp>
        <p:nvSpPr>
          <p:cNvPr id="4" name="">
            <a:extLst xmlns:a="http://schemas.openxmlformats.org/drawingml/2006/main">
              <a:ext uri="{FF2B5EF4-FFF2-40B4-BE49-F238E27FC236}">
                <a16:creationId xmlns:a16="http://schemas.microsoft.com/office/drawing/2014/main" id="{5FC08BBD-14FC-4E83-A4AD-2558B3FD3472}"/>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A6A6A"/>
                </a:solidFill>
                <a:latin typeface="Arial"/>
                <a:ea typeface="Arial"/>
                <a:cs typeface="Arial"/>
              </a:defRPr>
            </a:pPr>
            <a:r>
              <a:rPr sz="825" b="0">
                <a:solidFill>
                  <a:srgbClr val="6A6A6A"/>
                </a:solidFill>
                <a:latin typeface="Arial"/>
                <a:ea typeface="Arial"/>
                <a:cs typeface="Arial"/>
              </a:rPr>
              <a:t>Proyecto educativo independiente · Datos de seis ciudades</a:t>
            </a:r>
          </a:p>
        </p:txBody>
      </p:sp>
      <p:sp>
        <p:nvSpPr>
          <p:cNvPr id="5" name="">
            <a:extLst xmlns:a="http://schemas.openxmlformats.org/drawingml/2006/main">
              <a:ext uri="{FF2B5EF4-FFF2-40B4-BE49-F238E27FC236}">
                <a16:creationId xmlns:a16="http://schemas.microsoft.com/office/drawing/2014/main" id="{3331D851-351B-4396-B18D-D14A6527DAAA}"/>
              </a:ext>
            </a:extLst>
          </p:cNvPr>
          <p:cNvSpPr>
            <a:spLocks xmlns:a="http://schemas.openxmlformats.org/drawingml/2006/main" noGrp="1"/>
          </p:cNvSpPr>
          <p:nvPr/>
        </p:nvSpPr>
        <p:spPr>
          <a:xfrm xmlns:a="http://schemas.openxmlformats.org/drawingml/2006/main">
            <a:off x="111252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6A6A6A"/>
                </a:solidFill>
                <a:latin typeface="Arial"/>
                <a:ea typeface="Arial"/>
                <a:cs typeface="Arial"/>
              </a:defRPr>
            </a:pPr>
            <a:r>
              <a:rPr sz="825" b="0">
                <a:solidFill>
                  <a:srgbClr val="6A6A6A"/>
                </a:solidFill>
                <a:latin typeface="Arial"/>
                <a:ea typeface="Arial"/>
                <a:cs typeface="Arial"/>
              </a:rPr>
              <a:t>07</a:t>
            </a:r>
          </a:p>
        </p:txBody>
      </p:sp>
      <p:graphicFrame>
        <p:nvGraphicFramePr>
          <p:cNvPr id="20" name="Chart"/>
          <p:cNvGraphicFramePr/>
          <p:nvPr/>
        </p:nvGraphicFramePr>
        <p:xfrm>
          <a:off xmlns:a="http://schemas.openxmlformats.org/drawingml/2006/main" x="571500" y="1581150"/>
          <a:ext xmlns:a="http://schemas.openxmlformats.org/drawingml/2006/main" cx="8001000" cy="4171950"/>
        </p:xfrm>
        <a:graphic xmlns:a="http://schemas.openxmlformats.org/drawingml/2006/main">
          <a:graphicData uri="http://schemas.openxmlformats.org/drawingml/2006/chart">
            <c:chart xmlns:r="http://schemas.openxmlformats.org/officeDocument/2006/relationships" xmlns:c="http://schemas.openxmlformats.org/drawingml/2006/chart" r:id="Rac7fb909c8d94244"/>
          </a:graphicData>
        </a:graphic>
      </p:graphicFrame>
      <p:sp>
        <p:nvSpPr>
          <p:cNvPr id="7" name="">
            <a:extLst xmlns:a="http://schemas.openxmlformats.org/drawingml/2006/main">
              <a:ext uri="{FF2B5EF4-FFF2-40B4-BE49-F238E27FC236}">
                <a16:creationId xmlns:a16="http://schemas.microsoft.com/office/drawing/2014/main" id="{9A8689C2-BC67-4C6D-9A6D-5E87DD589FFF}"/>
              </a:ext>
            </a:extLst>
          </p:cNvPr>
          <p:cNvSpPr>
            <a:spLocks xmlns:a="http://schemas.openxmlformats.org/drawingml/2006/main" noGrp="1"/>
          </p:cNvSpPr>
          <p:nvPr/>
        </p:nvSpPr>
        <p:spPr>
          <a:xfrm xmlns:a="http://schemas.openxmlformats.org/drawingml/2006/main">
            <a:off x="8991600" y="1733550"/>
            <a:ext cx="2286000" cy="1123950"/>
          </a:xfrm>
          <a:prstGeom xmlns:a="http://schemas.openxmlformats.org/drawingml/2006/main" prst="roundRect">
            <a:avLst>
              <a:gd name="adj" fmla="val 15254"/>
            </a:avLst>
          </a:prstGeom>
          <a:solidFill xmlns:a="http://schemas.openxmlformats.org/drawingml/2006/main">
            <a:srgbClr val="FFF7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88249E5-A381-4541-886F-AA7F566218FF}"/>
              </a:ext>
            </a:extLst>
          </p:cNvPr>
          <p:cNvSpPr>
            <a:spLocks xmlns:a="http://schemas.openxmlformats.org/drawingml/2006/main" noGrp="1"/>
          </p:cNvSpPr>
          <p:nvPr/>
        </p:nvSpPr>
        <p:spPr>
          <a:xfrm xmlns:a="http://schemas.openxmlformats.org/drawingml/2006/main">
            <a:off x="9163050" y="1885950"/>
            <a:ext cx="1943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00A699"/>
                </a:solidFill>
                <a:latin typeface="Arial"/>
                <a:ea typeface="Arial"/>
                <a:cs typeface="Arial"/>
              </a:defRPr>
            </a:pPr>
            <a:r>
              <a:rPr sz="2550" b="1">
                <a:solidFill>
                  <a:srgbClr val="00A699"/>
                </a:solidFill>
                <a:latin typeface="Arial"/>
                <a:ea typeface="Arial"/>
                <a:cs typeface="Arial"/>
              </a:rPr>
              <a:t>6/6</a:t>
            </a:r>
          </a:p>
        </p:txBody>
      </p:sp>
      <p:sp>
        <p:nvSpPr>
          <p:cNvPr id="9" name="">
            <a:extLst xmlns:a="http://schemas.openxmlformats.org/drawingml/2006/main">
              <a:ext uri="{FF2B5EF4-FFF2-40B4-BE49-F238E27FC236}">
                <a16:creationId xmlns:a16="http://schemas.microsoft.com/office/drawing/2014/main" id="{7A3D3A47-56D7-43C9-858A-F15B0D91377E}"/>
              </a:ext>
            </a:extLst>
          </p:cNvPr>
          <p:cNvSpPr>
            <a:spLocks xmlns:a="http://schemas.openxmlformats.org/drawingml/2006/main" noGrp="1"/>
          </p:cNvSpPr>
          <p:nvPr/>
        </p:nvSpPr>
        <p:spPr>
          <a:xfrm xmlns:a="http://schemas.openxmlformats.org/drawingml/2006/main">
            <a:off x="9163050" y="24003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A6A6A"/>
                </a:solidFill>
                <a:latin typeface="Arial"/>
                <a:ea typeface="Arial"/>
                <a:cs typeface="Arial"/>
              </a:defRPr>
            </a:pPr>
            <a:r>
              <a:rPr sz="1125" b="0">
                <a:solidFill>
                  <a:srgbClr val="6A6A6A"/>
                </a:solidFill>
                <a:latin typeface="Arial"/>
                <a:ea typeface="Arial"/>
                <a:cs typeface="Arial"/>
              </a:rPr>
              <a:t>ciudades con diferencia</a:t>
            </a:r>
          </a:p>
        </p:txBody>
      </p:sp>
      <p:sp>
        <p:nvSpPr>
          <p:cNvPr id="10" name="">
            <a:extLst xmlns:a="http://schemas.openxmlformats.org/drawingml/2006/main">
              <a:ext uri="{FF2B5EF4-FFF2-40B4-BE49-F238E27FC236}">
                <a16:creationId xmlns:a16="http://schemas.microsoft.com/office/drawing/2014/main" id="{00C7A0EB-65C3-449B-B255-85892193F071}"/>
              </a:ext>
            </a:extLst>
          </p:cNvPr>
          <p:cNvSpPr>
            <a:spLocks xmlns:a="http://schemas.openxmlformats.org/drawingml/2006/main" noGrp="1"/>
          </p:cNvSpPr>
          <p:nvPr/>
        </p:nvSpPr>
        <p:spPr>
          <a:xfrm xmlns:a="http://schemas.openxmlformats.org/drawingml/2006/main">
            <a:off x="8991600" y="3086100"/>
            <a:ext cx="2286000" cy="1123950"/>
          </a:xfrm>
          <a:prstGeom xmlns:a="http://schemas.openxmlformats.org/drawingml/2006/main" prst="roundRect">
            <a:avLst>
              <a:gd name="adj" fmla="val 15254"/>
            </a:avLst>
          </a:prstGeom>
          <a:solidFill xmlns:a="http://schemas.openxmlformats.org/drawingml/2006/main">
            <a:srgbClr val="FFF7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F572A8-4596-47F7-A34D-F9A20570F5B0}"/>
              </a:ext>
            </a:extLst>
          </p:cNvPr>
          <p:cNvSpPr>
            <a:spLocks xmlns:a="http://schemas.openxmlformats.org/drawingml/2006/main" noGrp="1"/>
          </p:cNvSpPr>
          <p:nvPr/>
        </p:nvSpPr>
        <p:spPr>
          <a:xfrm xmlns:a="http://schemas.openxmlformats.org/drawingml/2006/main">
            <a:off x="9163050" y="3238500"/>
            <a:ext cx="1943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7B61A8"/>
                </a:solidFill>
                <a:latin typeface="Arial"/>
                <a:ea typeface="Arial"/>
                <a:cs typeface="Arial"/>
              </a:defRPr>
            </a:pPr>
            <a:r>
              <a:rPr sz="2550" b="1">
                <a:solidFill>
                  <a:srgbClr val="7B61A8"/>
                </a:solidFill>
                <a:latin typeface="Arial"/>
                <a:ea typeface="Arial"/>
                <a:cs typeface="Arial"/>
              </a:rPr>
              <a:t>Holm</a:t>
            </a:r>
          </a:p>
        </p:txBody>
      </p:sp>
      <p:sp>
        <p:nvSpPr>
          <p:cNvPr id="12" name="">
            <a:extLst xmlns:a="http://schemas.openxmlformats.org/drawingml/2006/main">
              <a:ext uri="{FF2B5EF4-FFF2-40B4-BE49-F238E27FC236}">
                <a16:creationId xmlns:a16="http://schemas.microsoft.com/office/drawing/2014/main" id="{A90E2755-2BAF-4EA7-870E-B42ABDBC30C2}"/>
              </a:ext>
            </a:extLst>
          </p:cNvPr>
          <p:cNvSpPr>
            <a:spLocks xmlns:a="http://schemas.openxmlformats.org/drawingml/2006/main" noGrp="1"/>
          </p:cNvSpPr>
          <p:nvPr/>
        </p:nvSpPr>
        <p:spPr>
          <a:xfrm xmlns:a="http://schemas.openxmlformats.org/drawingml/2006/main">
            <a:off x="9163050" y="37528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A6A6A"/>
                </a:solidFill>
                <a:latin typeface="Arial"/>
                <a:ea typeface="Arial"/>
                <a:cs typeface="Arial"/>
              </a:defRPr>
            </a:pPr>
            <a:r>
              <a:rPr sz="1125" b="0">
                <a:solidFill>
                  <a:srgbClr val="6A6A6A"/>
                </a:solidFill>
                <a:latin typeface="Arial"/>
                <a:ea typeface="Arial"/>
                <a:cs typeface="Arial"/>
              </a:rPr>
              <a:t>ajuste por comparaciones</a:t>
            </a:r>
          </a:p>
        </p:txBody>
      </p:sp>
      <p:sp>
        <p:nvSpPr>
          <p:cNvPr id="13" name="">
            <a:extLst xmlns:a="http://schemas.openxmlformats.org/drawingml/2006/main">
              <a:ext uri="{FF2B5EF4-FFF2-40B4-BE49-F238E27FC236}">
                <a16:creationId xmlns:a16="http://schemas.microsoft.com/office/drawing/2014/main" id="{100DBE99-463A-42F4-B013-3DD55C09562F}"/>
              </a:ext>
            </a:extLst>
          </p:cNvPr>
          <p:cNvSpPr>
            <a:spLocks xmlns:a="http://schemas.openxmlformats.org/drawingml/2006/main" noGrp="1"/>
          </p:cNvSpPr>
          <p:nvPr/>
        </p:nvSpPr>
        <p:spPr>
          <a:xfrm xmlns:a="http://schemas.openxmlformats.org/drawingml/2006/main">
            <a:off x="9029700" y="46291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D90B3E"/>
                </a:solidFill>
                <a:latin typeface="Arial"/>
                <a:ea typeface="Arial"/>
                <a:cs typeface="Arial"/>
              </a:defRPr>
            </a:pPr>
            <a:r>
              <a:rPr sz="1575" b="1">
                <a:solidFill>
                  <a:srgbClr val="D90B3E"/>
                </a:solidFill>
                <a:latin typeface="Arial"/>
                <a:ea typeface="Arial"/>
                <a:cs typeface="Arial"/>
              </a:rPr>
              <a:t>Efecto moderado</a:t>
            </a:r>
          </a:p>
        </p:txBody>
      </p:sp>
      <p:sp>
        <p:nvSpPr>
          <p:cNvPr id="14" name="">
            <a:extLst xmlns:a="http://schemas.openxmlformats.org/drawingml/2006/main">
              <a:ext uri="{FF2B5EF4-FFF2-40B4-BE49-F238E27FC236}">
                <a16:creationId xmlns:a16="http://schemas.microsoft.com/office/drawing/2014/main" id="{FCFB21F9-02A0-4007-8953-2C2D0DC77674}"/>
              </a:ext>
            </a:extLst>
          </p:cNvPr>
          <p:cNvSpPr>
            <a:spLocks xmlns:a="http://schemas.openxmlformats.org/drawingml/2006/main" noGrp="1"/>
          </p:cNvSpPr>
          <p:nvPr/>
        </p:nvSpPr>
        <p:spPr>
          <a:xfrm xmlns:a="http://schemas.openxmlformats.org/drawingml/2006/main">
            <a:off x="9029700" y="5029200"/>
            <a:ext cx="219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A6A6A"/>
                </a:solidFill>
                <a:latin typeface="Arial"/>
                <a:ea typeface="Arial"/>
                <a:cs typeface="Arial"/>
              </a:defRPr>
            </a:pPr>
            <a:r>
              <a:rPr sz="1275" b="0">
                <a:solidFill>
                  <a:srgbClr val="6A6A6A"/>
                </a:solidFill>
                <a:latin typeface="Arial"/>
                <a:ea typeface="Arial"/>
                <a:cs typeface="Arial"/>
              </a:rPr>
              <a:t>London, New York, Sydney y Tokyo. Efecto pequeño en Madrid y Milan.</a:t>
            </a:r>
          </a:p>
        </p:txBody>
      </p:sp>
    </p:spTree>
    <p:extLst>
      <p:ext uri="{BB962C8B-B14F-4D97-AF65-F5344CB8AC3E}">
        <p14:creationId xmlns:p14="http://schemas.microsoft.com/office/powerpoint/2010/main" val="2191063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5A96353-A31F-4DFB-A758-AC034DFE4D0D}"/>
              </a:ext>
            </a:extLst>
          </p:cNvPr>
          <p:cNvSpPr>
            <a:spLocks xmlns:a="http://schemas.openxmlformats.org/drawingml/2006/main" noGrp="1"/>
          </p:cNvSpPr>
          <p:nvPr/>
        </p:nvSpPr>
        <p:spPr>
          <a:xfrm xmlns:a="http://schemas.openxmlformats.org/drawingml/2006/main">
            <a:off x="609600" y="304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385C"/>
                </a:solidFill>
                <a:latin typeface="Arial"/>
                <a:ea typeface="Arial"/>
                <a:cs typeface="Arial"/>
              </a:defRPr>
            </a:pPr>
            <a:r>
              <a:rPr sz="975" b="1">
                <a:solidFill>
                  <a:srgbClr val="FF385C"/>
                </a:solidFill>
                <a:latin typeface="Arial"/>
                <a:ea typeface="Arial"/>
                <a:cs typeface="Arial"/>
              </a:rPr>
              <a:t>CALIDAD</a:t>
            </a:r>
          </a:p>
        </p:txBody>
      </p:sp>
      <p:sp>
        <p:nvSpPr>
          <p:cNvPr id="2" name="">
            <a:extLst xmlns:a="http://schemas.openxmlformats.org/drawingml/2006/main">
              <a:ext uri="{FF2B5EF4-FFF2-40B4-BE49-F238E27FC236}">
                <a16:creationId xmlns:a16="http://schemas.microsoft.com/office/drawing/2014/main" id="{16FA9FD4-CB58-4BD1-8FF7-9CDB844A1DA4}"/>
              </a:ext>
            </a:extLst>
          </p:cNvPr>
          <p:cNvSpPr>
            <a:spLocks xmlns:a="http://schemas.openxmlformats.org/drawingml/2006/main" noGrp="1"/>
          </p:cNvSpPr>
          <p:nvPr/>
        </p:nvSpPr>
        <p:spPr>
          <a:xfrm xmlns:a="http://schemas.openxmlformats.org/drawingml/2006/main">
            <a:off x="609600" y="5905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222222"/>
                </a:solidFill>
                <a:latin typeface="Arial"/>
                <a:ea typeface="Arial"/>
                <a:cs typeface="Arial"/>
              </a:defRPr>
            </a:pPr>
            <a:r>
              <a:rPr sz="2700" b="1">
                <a:solidFill>
                  <a:srgbClr val="222222"/>
                </a:solidFill>
                <a:latin typeface="Arial"/>
                <a:ea typeface="Arial"/>
                <a:cs typeface="Arial"/>
              </a:rPr>
              <a:t>Tres reglas convierten anomalías en una cola de revisión</a:t>
            </a:r>
          </a:p>
        </p:txBody>
      </p:sp>
      <p:sp>
        <p:nvSpPr>
          <p:cNvPr id="3" name="">
            <a:extLst xmlns:a="http://schemas.openxmlformats.org/drawingml/2006/main">
              <a:ext uri="{FF2B5EF4-FFF2-40B4-BE49-F238E27FC236}">
                <a16:creationId xmlns:a16="http://schemas.microsoft.com/office/drawing/2014/main" id="{728FC73E-735D-4C79-9989-9966A5085A1B}"/>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E6E6E6"/>
            </a:solidFill>
            <a:prstDash val="solid"/>
          </a:ln>
        </p:spPr>
      </p:sp>
      <p:sp>
        <p:nvSpPr>
          <p:cNvPr id="4" name="">
            <a:extLst xmlns:a="http://schemas.openxmlformats.org/drawingml/2006/main">
              <a:ext uri="{FF2B5EF4-FFF2-40B4-BE49-F238E27FC236}">
                <a16:creationId xmlns:a16="http://schemas.microsoft.com/office/drawing/2014/main" id="{484B7465-C1DE-4DA2-BE90-32D59EFC9D39}"/>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A6A6A"/>
                </a:solidFill>
                <a:latin typeface="Arial"/>
                <a:ea typeface="Arial"/>
                <a:cs typeface="Arial"/>
              </a:defRPr>
            </a:pPr>
            <a:r>
              <a:rPr sz="825" b="0">
                <a:solidFill>
                  <a:srgbClr val="6A6A6A"/>
                </a:solidFill>
                <a:latin typeface="Arial"/>
                <a:ea typeface="Arial"/>
                <a:cs typeface="Arial"/>
              </a:rPr>
              <a:t>Proyecto educativo independiente · Datos de seis ciudades</a:t>
            </a:r>
          </a:p>
        </p:txBody>
      </p:sp>
      <p:sp>
        <p:nvSpPr>
          <p:cNvPr id="5" name="">
            <a:extLst xmlns:a="http://schemas.openxmlformats.org/drawingml/2006/main">
              <a:ext uri="{FF2B5EF4-FFF2-40B4-BE49-F238E27FC236}">
                <a16:creationId xmlns:a16="http://schemas.microsoft.com/office/drawing/2014/main" id="{F8C4BA3A-747D-4D09-8332-34E9228CACC2}"/>
              </a:ext>
            </a:extLst>
          </p:cNvPr>
          <p:cNvSpPr>
            <a:spLocks xmlns:a="http://schemas.openxmlformats.org/drawingml/2006/main" noGrp="1"/>
          </p:cNvSpPr>
          <p:nvPr/>
        </p:nvSpPr>
        <p:spPr>
          <a:xfrm xmlns:a="http://schemas.openxmlformats.org/drawingml/2006/main">
            <a:off x="111252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6A6A6A"/>
                </a:solidFill>
                <a:latin typeface="Arial"/>
                <a:ea typeface="Arial"/>
                <a:cs typeface="Arial"/>
              </a:defRPr>
            </a:pPr>
            <a:r>
              <a:rPr sz="825" b="0">
                <a:solidFill>
                  <a:srgbClr val="6A6A6A"/>
                </a:solidFill>
                <a:latin typeface="Arial"/>
                <a:ea typeface="Arial"/>
                <a:cs typeface="Arial"/>
              </a:rPr>
              <a:t>08</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1aac872c7bd41ac"/>
          <a:srcRect xmlns:a="http://schemas.openxmlformats.org/drawingml/2006/main" l="0" t="29226" r="0" b="29226"/>
          <a:stretch xmlns:a="http://schemas.openxmlformats.org/drawingml/2006/main">
            <a:fillRect l="0" t="0" r="0" b="0"/>
          </a:stretch>
        </p:blipFill>
        <p:spPr>
          <a:xfrm xmlns:a="http://schemas.openxmlformats.org/drawingml/2006/main">
            <a:off x="4953000" y="1524000"/>
            <a:ext cx="6515100" cy="4495800"/>
          </a:xfrm>
          <a:prstGeom xmlns:a="http://schemas.openxmlformats.org/drawingml/2006/main" prst="roundRect">
            <a:avLst>
              <a:gd name="adj" fmla="val 3390"/>
            </a:avLst>
          </a:prstGeom>
        </p:spPr>
      </p:pic>
      <p:sp>
        <p:nvSpPr>
          <p:cNvPr id="7" name="">
            <a:extLst xmlns:a="http://schemas.openxmlformats.org/drawingml/2006/main">
              <a:ext uri="{FF2B5EF4-FFF2-40B4-BE49-F238E27FC236}">
                <a16:creationId xmlns:a16="http://schemas.microsoft.com/office/drawing/2014/main" id="{13E91F57-C79B-4BD1-A3E7-7CA71F1094B1}"/>
              </a:ext>
            </a:extLst>
          </p:cNvPr>
          <p:cNvSpPr>
            <a:spLocks xmlns:a="http://schemas.openxmlformats.org/drawingml/2006/main" noGrp="1"/>
          </p:cNvSpPr>
          <p:nvPr/>
        </p:nvSpPr>
        <p:spPr>
          <a:xfrm xmlns:a="http://schemas.openxmlformats.org/drawingml/2006/main">
            <a:off x="666750" y="1657350"/>
            <a:ext cx="3619500" cy="1123950"/>
          </a:xfrm>
          <a:prstGeom xmlns:a="http://schemas.openxmlformats.org/drawingml/2006/main" prst="roundRect">
            <a:avLst>
              <a:gd name="adj" fmla="val 15254"/>
            </a:avLst>
          </a:prstGeom>
          <a:solidFill xmlns:a="http://schemas.openxmlformats.org/drawingml/2006/main">
            <a:srgbClr val="FFF7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7F2E9D2-1EE2-4243-9333-60FA5A5E7DF0}"/>
              </a:ext>
            </a:extLst>
          </p:cNvPr>
          <p:cNvSpPr>
            <a:spLocks xmlns:a="http://schemas.openxmlformats.org/drawingml/2006/main" noGrp="1"/>
          </p:cNvSpPr>
          <p:nvPr/>
        </p:nvSpPr>
        <p:spPr>
          <a:xfrm xmlns:a="http://schemas.openxmlformats.org/drawingml/2006/main">
            <a:off x="838200" y="1809750"/>
            <a:ext cx="327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F385C"/>
                </a:solidFill>
                <a:latin typeface="Arial"/>
                <a:ea typeface="Arial"/>
                <a:cs typeface="Arial"/>
              </a:defRPr>
            </a:pPr>
            <a:r>
              <a:rPr sz="2550" b="1">
                <a:solidFill>
                  <a:srgbClr val="FF385C"/>
                </a:solidFill>
                <a:latin typeface="Arial"/>
                <a:ea typeface="Arial"/>
                <a:cs typeface="Arial"/>
              </a:rPr>
              <a:t>50</a:t>
            </a:r>
          </a:p>
        </p:txBody>
      </p:sp>
      <p:sp>
        <p:nvSpPr>
          <p:cNvPr id="9" name="">
            <a:extLst xmlns:a="http://schemas.openxmlformats.org/drawingml/2006/main">
              <a:ext uri="{FF2B5EF4-FFF2-40B4-BE49-F238E27FC236}">
                <a16:creationId xmlns:a16="http://schemas.microsoft.com/office/drawing/2014/main" id="{CF74E58E-0352-4CFD-8DA9-FC4FB1BA43B9}"/>
              </a:ext>
            </a:extLst>
          </p:cNvPr>
          <p:cNvSpPr>
            <a:spLocks xmlns:a="http://schemas.openxmlformats.org/drawingml/2006/main" noGrp="1"/>
          </p:cNvSpPr>
          <p:nvPr/>
        </p:nvSpPr>
        <p:spPr>
          <a:xfrm xmlns:a="http://schemas.openxmlformats.org/drawingml/2006/main">
            <a:off x="838200" y="2324100"/>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A6A6A"/>
                </a:solidFill>
                <a:latin typeface="Arial"/>
                <a:ea typeface="Arial"/>
                <a:cs typeface="Arial"/>
              </a:defRPr>
            </a:pPr>
            <a:r>
              <a:rPr sz="1125" b="0">
                <a:solidFill>
                  <a:srgbClr val="6A6A6A"/>
                </a:solidFill>
                <a:latin typeface="Arial"/>
                <a:ea typeface="Arial"/>
                <a:cs typeface="Arial"/>
              </a:rPr>
              <a:t>precios iguales o inferiores a cero</a:t>
            </a:r>
          </a:p>
        </p:txBody>
      </p:sp>
      <p:sp>
        <p:nvSpPr>
          <p:cNvPr id="10" name="">
            <a:extLst xmlns:a="http://schemas.openxmlformats.org/drawingml/2006/main">
              <a:ext uri="{FF2B5EF4-FFF2-40B4-BE49-F238E27FC236}">
                <a16:creationId xmlns:a16="http://schemas.microsoft.com/office/drawing/2014/main" id="{F1B1115A-91AD-49B3-AB29-4D4B73C733AC}"/>
              </a:ext>
            </a:extLst>
          </p:cNvPr>
          <p:cNvSpPr>
            <a:spLocks xmlns:a="http://schemas.openxmlformats.org/drawingml/2006/main" noGrp="1"/>
          </p:cNvSpPr>
          <p:nvPr/>
        </p:nvSpPr>
        <p:spPr>
          <a:xfrm xmlns:a="http://schemas.openxmlformats.org/drawingml/2006/main">
            <a:off x="666750" y="3009900"/>
            <a:ext cx="3619500" cy="1123950"/>
          </a:xfrm>
          <a:prstGeom xmlns:a="http://schemas.openxmlformats.org/drawingml/2006/main" prst="roundRect">
            <a:avLst>
              <a:gd name="adj" fmla="val 15254"/>
            </a:avLst>
          </a:prstGeom>
          <a:solidFill xmlns:a="http://schemas.openxmlformats.org/drawingml/2006/main">
            <a:srgbClr val="FFF7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28FDD43-1517-45AF-8452-42C12D4AF3B6}"/>
              </a:ext>
            </a:extLst>
          </p:cNvPr>
          <p:cNvSpPr>
            <a:spLocks xmlns:a="http://schemas.openxmlformats.org/drawingml/2006/main" noGrp="1"/>
          </p:cNvSpPr>
          <p:nvPr/>
        </p:nvSpPr>
        <p:spPr>
          <a:xfrm xmlns:a="http://schemas.openxmlformats.org/drawingml/2006/main">
            <a:off x="838200" y="3162300"/>
            <a:ext cx="327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59E0B"/>
                </a:solidFill>
                <a:latin typeface="Arial"/>
                <a:ea typeface="Arial"/>
                <a:cs typeface="Arial"/>
              </a:defRPr>
            </a:pPr>
            <a:r>
              <a:rPr sz="2550" b="1">
                <a:solidFill>
                  <a:srgbClr val="F59E0B"/>
                </a:solidFill>
                <a:latin typeface="Arial"/>
                <a:ea typeface="Arial"/>
                <a:cs typeface="Arial"/>
              </a:rPr>
              <a:t>20</a:t>
            </a:r>
          </a:p>
        </p:txBody>
      </p:sp>
      <p:sp>
        <p:nvSpPr>
          <p:cNvPr id="12" name="">
            <a:extLst xmlns:a="http://schemas.openxmlformats.org/drawingml/2006/main">
              <a:ext uri="{FF2B5EF4-FFF2-40B4-BE49-F238E27FC236}">
                <a16:creationId xmlns:a16="http://schemas.microsoft.com/office/drawing/2014/main" id="{F60556C6-BA6D-42FB-A2D3-453F7663BB9A}"/>
              </a:ext>
            </a:extLst>
          </p:cNvPr>
          <p:cNvSpPr>
            <a:spLocks xmlns:a="http://schemas.openxmlformats.org/drawingml/2006/main" noGrp="1"/>
          </p:cNvSpPr>
          <p:nvPr/>
        </p:nvSpPr>
        <p:spPr>
          <a:xfrm xmlns:a="http://schemas.openxmlformats.org/drawingml/2006/main">
            <a:off x="838200" y="3676650"/>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A6A6A"/>
                </a:solidFill>
                <a:latin typeface="Arial"/>
                <a:ea typeface="Arial"/>
                <a:cs typeface="Arial"/>
              </a:defRPr>
            </a:pPr>
            <a:r>
              <a:rPr sz="1125" b="0">
                <a:solidFill>
                  <a:srgbClr val="6A6A6A"/>
                </a:solidFill>
                <a:latin typeface="Arial"/>
                <a:ea typeface="Arial"/>
                <a:cs typeface="Arial"/>
              </a:rPr>
              <a:t>estancias mínimas de 1.000+ noches</a:t>
            </a:r>
          </a:p>
        </p:txBody>
      </p:sp>
      <p:sp>
        <p:nvSpPr>
          <p:cNvPr id="13" name="">
            <a:extLst xmlns:a="http://schemas.openxmlformats.org/drawingml/2006/main">
              <a:ext uri="{FF2B5EF4-FFF2-40B4-BE49-F238E27FC236}">
                <a16:creationId xmlns:a16="http://schemas.microsoft.com/office/drawing/2014/main" id="{114F46C1-086C-474F-9F26-37E773125E6D}"/>
              </a:ext>
            </a:extLst>
          </p:cNvPr>
          <p:cNvSpPr>
            <a:spLocks xmlns:a="http://schemas.openxmlformats.org/drawingml/2006/main" noGrp="1"/>
          </p:cNvSpPr>
          <p:nvPr/>
        </p:nvSpPr>
        <p:spPr>
          <a:xfrm xmlns:a="http://schemas.openxmlformats.org/drawingml/2006/main">
            <a:off x="666750" y="4362450"/>
            <a:ext cx="3619500" cy="1123950"/>
          </a:xfrm>
          <a:prstGeom xmlns:a="http://schemas.openxmlformats.org/drawingml/2006/main" prst="roundRect">
            <a:avLst>
              <a:gd name="adj" fmla="val 15254"/>
            </a:avLst>
          </a:prstGeom>
          <a:solidFill xmlns:a="http://schemas.openxmlformats.org/drawingml/2006/main">
            <a:srgbClr val="FFF7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F32EBE7-66B9-4DE1-AF6D-EA2A228DC236}"/>
              </a:ext>
            </a:extLst>
          </p:cNvPr>
          <p:cNvSpPr>
            <a:spLocks xmlns:a="http://schemas.openxmlformats.org/drawingml/2006/main" noGrp="1"/>
          </p:cNvSpPr>
          <p:nvPr/>
        </p:nvSpPr>
        <p:spPr>
          <a:xfrm xmlns:a="http://schemas.openxmlformats.org/drawingml/2006/main">
            <a:off x="838200" y="4514850"/>
            <a:ext cx="327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00A699"/>
                </a:solidFill>
                <a:latin typeface="Arial"/>
                <a:ea typeface="Arial"/>
                <a:cs typeface="Arial"/>
              </a:defRPr>
            </a:pPr>
            <a:r>
              <a:rPr sz="2550" b="1">
                <a:solidFill>
                  <a:srgbClr val="00A699"/>
                </a:solidFill>
                <a:latin typeface="Arial"/>
                <a:ea typeface="Arial"/>
                <a:cs typeface="Arial"/>
              </a:rPr>
              <a:t>123</a:t>
            </a:r>
          </a:p>
        </p:txBody>
      </p:sp>
      <p:sp>
        <p:nvSpPr>
          <p:cNvPr id="15" name="">
            <a:extLst xmlns:a="http://schemas.openxmlformats.org/drawingml/2006/main">
              <a:ext uri="{FF2B5EF4-FFF2-40B4-BE49-F238E27FC236}">
                <a16:creationId xmlns:a16="http://schemas.microsoft.com/office/drawing/2014/main" id="{3D94C6E8-4527-4B87-A252-0A778F1870FB}"/>
              </a:ext>
            </a:extLst>
          </p:cNvPr>
          <p:cNvSpPr>
            <a:spLocks xmlns:a="http://schemas.openxmlformats.org/drawingml/2006/main" noGrp="1"/>
          </p:cNvSpPr>
          <p:nvPr/>
        </p:nvSpPr>
        <p:spPr>
          <a:xfrm xmlns:a="http://schemas.openxmlformats.org/drawingml/2006/main">
            <a:off x="838200" y="5029200"/>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A6A6A"/>
                </a:solidFill>
                <a:latin typeface="Arial"/>
                <a:ea typeface="Arial"/>
                <a:cs typeface="Arial"/>
              </a:defRPr>
            </a:pPr>
            <a:r>
              <a:rPr sz="1125" b="0">
                <a:solidFill>
                  <a:srgbClr val="6A6A6A"/>
                </a:solidFill>
                <a:latin typeface="Arial"/>
                <a:ea typeface="Arial"/>
                <a:cs typeface="Arial"/>
              </a:rPr>
              <a:t>reseñas sin tasa mensual</a:t>
            </a:r>
          </a:p>
        </p:txBody>
      </p:sp>
      <p:sp>
        <p:nvSpPr>
          <p:cNvPr id="16" name="">
            <a:extLst xmlns:a="http://schemas.openxmlformats.org/drawingml/2006/main">
              <a:ext uri="{FF2B5EF4-FFF2-40B4-BE49-F238E27FC236}">
                <a16:creationId xmlns:a16="http://schemas.microsoft.com/office/drawing/2014/main" id="{9D3B3534-0B15-4A21-A680-CAB036D0636C}"/>
              </a:ext>
            </a:extLst>
          </p:cNvPr>
          <p:cNvSpPr>
            <a:spLocks xmlns:a="http://schemas.openxmlformats.org/drawingml/2006/main" noGrp="1"/>
          </p:cNvSpPr>
          <p:nvPr/>
        </p:nvSpPr>
        <p:spPr>
          <a:xfrm xmlns:a="http://schemas.openxmlformats.org/drawingml/2006/main">
            <a:off x="666750" y="57150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22222"/>
                </a:solidFill>
                <a:latin typeface="Arial"/>
                <a:ea typeface="Arial"/>
                <a:cs typeface="Arial"/>
              </a:defRPr>
            </a:pPr>
            <a:r>
              <a:rPr sz="1275" b="1">
                <a:solidFill>
                  <a:srgbClr val="222222"/>
                </a:solidFill>
                <a:latin typeface="Arial"/>
                <a:ea typeface="Arial"/>
                <a:cs typeface="Arial"/>
              </a:rPr>
              <a:t>No se eliminan automáticamente: se revisa el registro y su contexto.</a:t>
            </a:r>
          </a:p>
        </p:txBody>
      </p:sp>
    </p:spTree>
    <p:extLst>
      <p:ext uri="{BB962C8B-B14F-4D97-AF65-F5344CB8AC3E}">
        <p14:creationId xmlns:p14="http://schemas.microsoft.com/office/powerpoint/2010/main" val="4935169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F6619F-13C4-468C-8541-5F9258C5B732}"/>
              </a:ext>
            </a:extLst>
          </p:cNvPr>
          <p:cNvSpPr>
            <a:spLocks xmlns:a="http://schemas.openxmlformats.org/drawingml/2006/main" noGrp="1"/>
          </p:cNvSpPr>
          <p:nvPr/>
        </p:nvSpPr>
        <p:spPr>
          <a:xfrm xmlns:a="http://schemas.openxmlformats.org/drawingml/2006/main">
            <a:off x="609600" y="304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385C"/>
                </a:solidFill>
                <a:latin typeface="Arial"/>
                <a:ea typeface="Arial"/>
                <a:cs typeface="Arial"/>
              </a:defRPr>
            </a:pPr>
            <a:r>
              <a:rPr sz="975" b="1">
                <a:solidFill>
                  <a:srgbClr val="FF385C"/>
                </a:solidFill>
                <a:latin typeface="Arial"/>
                <a:ea typeface="Arial"/>
                <a:cs typeface="Arial"/>
              </a:rPr>
              <a:t>DEMO</a:t>
            </a:r>
          </a:p>
        </p:txBody>
      </p:sp>
      <p:sp>
        <p:nvSpPr>
          <p:cNvPr id="2" name="">
            <a:extLst xmlns:a="http://schemas.openxmlformats.org/drawingml/2006/main">
              <a:ext uri="{FF2B5EF4-FFF2-40B4-BE49-F238E27FC236}">
                <a16:creationId xmlns:a16="http://schemas.microsoft.com/office/drawing/2014/main" id="{9891AB47-0A4A-4B65-B12F-92AC13AC489E}"/>
              </a:ext>
            </a:extLst>
          </p:cNvPr>
          <p:cNvSpPr>
            <a:spLocks xmlns:a="http://schemas.openxmlformats.org/drawingml/2006/main" noGrp="1"/>
          </p:cNvSpPr>
          <p:nvPr/>
        </p:nvSpPr>
        <p:spPr>
          <a:xfrm xmlns:a="http://schemas.openxmlformats.org/drawingml/2006/main">
            <a:off x="609600" y="5905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222222"/>
                </a:solidFill>
                <a:latin typeface="Arial"/>
                <a:ea typeface="Arial"/>
                <a:cs typeface="Arial"/>
              </a:defRPr>
            </a:pPr>
            <a:r>
              <a:rPr sz="2700" b="1">
                <a:solidFill>
                  <a:srgbClr val="222222"/>
                </a:solidFill>
                <a:latin typeface="Arial"/>
                <a:ea typeface="Arial"/>
                <a:cs typeface="Arial"/>
              </a:rPr>
              <a:t>La evidencia se puede explorar en un dashboard público</a:t>
            </a:r>
          </a:p>
        </p:txBody>
      </p:sp>
      <p:sp>
        <p:nvSpPr>
          <p:cNvPr id="3" name="">
            <a:extLst xmlns:a="http://schemas.openxmlformats.org/drawingml/2006/main">
              <a:ext uri="{FF2B5EF4-FFF2-40B4-BE49-F238E27FC236}">
                <a16:creationId xmlns:a16="http://schemas.microsoft.com/office/drawing/2014/main" id="{FAACDF47-7119-4192-90ED-19FA53251ECA}"/>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E6E6E6"/>
            </a:solidFill>
            <a:prstDash val="solid"/>
          </a:ln>
        </p:spPr>
      </p:sp>
      <p:sp>
        <p:nvSpPr>
          <p:cNvPr id="4" name="">
            <a:extLst xmlns:a="http://schemas.openxmlformats.org/drawingml/2006/main">
              <a:ext uri="{FF2B5EF4-FFF2-40B4-BE49-F238E27FC236}">
                <a16:creationId xmlns:a16="http://schemas.microsoft.com/office/drawing/2014/main" id="{9E135EF2-5D70-43AF-8E69-CCEF9E53C82B}"/>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A6A6A"/>
                </a:solidFill>
                <a:latin typeface="Arial"/>
                <a:ea typeface="Arial"/>
                <a:cs typeface="Arial"/>
              </a:defRPr>
            </a:pPr>
            <a:r>
              <a:rPr sz="825" b="0">
                <a:solidFill>
                  <a:srgbClr val="6A6A6A"/>
                </a:solidFill>
                <a:latin typeface="Arial"/>
                <a:ea typeface="Arial"/>
                <a:cs typeface="Arial"/>
              </a:rPr>
              <a:t>Proyecto educativo independiente · Datos de seis ciudades</a:t>
            </a:r>
          </a:p>
        </p:txBody>
      </p:sp>
      <p:sp>
        <p:nvSpPr>
          <p:cNvPr id="5" name="">
            <a:extLst xmlns:a="http://schemas.openxmlformats.org/drawingml/2006/main">
              <a:ext uri="{FF2B5EF4-FFF2-40B4-BE49-F238E27FC236}">
                <a16:creationId xmlns:a16="http://schemas.microsoft.com/office/drawing/2014/main" id="{9E2CCEEE-93B0-48E5-9482-5D357618EEC9}"/>
              </a:ext>
            </a:extLst>
          </p:cNvPr>
          <p:cNvSpPr>
            <a:spLocks xmlns:a="http://schemas.openxmlformats.org/drawingml/2006/main" noGrp="1"/>
          </p:cNvSpPr>
          <p:nvPr/>
        </p:nvSpPr>
        <p:spPr>
          <a:xfrm xmlns:a="http://schemas.openxmlformats.org/drawingml/2006/main">
            <a:off x="111252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6A6A6A"/>
                </a:solidFill>
                <a:latin typeface="Arial"/>
                <a:ea typeface="Arial"/>
                <a:cs typeface="Arial"/>
              </a:defRPr>
            </a:pPr>
            <a:r>
              <a:rPr sz="825" b="0">
                <a:solidFill>
                  <a:srgbClr val="6A6A6A"/>
                </a:solidFill>
                <a:latin typeface="Arial"/>
                <a:ea typeface="Arial"/>
                <a:cs typeface="Arial"/>
              </a:rPr>
              <a:t>09</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53655230b1e4653"/>
          <a:srcRect xmlns:a="http://schemas.openxmlformats.org/drawingml/2006/main" l="0" t="31221" r="0" b="31221"/>
          <a:stretch xmlns:a="http://schemas.openxmlformats.org/drawingml/2006/main">
            <a:fillRect l="0" t="0" r="0" b="0"/>
          </a:stretch>
        </p:blipFill>
        <p:spPr>
          <a:xfrm xmlns:a="http://schemas.openxmlformats.org/drawingml/2006/main">
            <a:off x="609600" y="1504950"/>
            <a:ext cx="7639050" cy="4629150"/>
          </a:xfrm>
          <a:prstGeom xmlns:a="http://schemas.openxmlformats.org/drawingml/2006/main" prst="roundRect">
            <a:avLst>
              <a:gd name="adj" fmla="val 3292"/>
            </a:avLst>
          </a:prstGeom>
        </p:spPr>
      </p:pic>
      <p:sp>
        <p:nvSpPr>
          <p:cNvPr id="7" name="">
            <a:extLst xmlns:a="http://schemas.openxmlformats.org/drawingml/2006/main">
              <a:ext uri="{FF2B5EF4-FFF2-40B4-BE49-F238E27FC236}">
                <a16:creationId xmlns:a16="http://schemas.microsoft.com/office/drawing/2014/main" id="{8AD681E9-1E46-4C92-B4BD-FF51B51A29A5}"/>
              </a:ext>
            </a:extLst>
          </p:cNvPr>
          <p:cNvSpPr>
            <a:spLocks xmlns:a="http://schemas.openxmlformats.org/drawingml/2006/main" noGrp="1"/>
          </p:cNvSpPr>
          <p:nvPr/>
        </p:nvSpPr>
        <p:spPr>
          <a:xfrm xmlns:a="http://schemas.openxmlformats.org/drawingml/2006/main">
            <a:off x="8743950" y="16764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22222"/>
                </a:solidFill>
                <a:latin typeface="Arial"/>
                <a:ea typeface="Arial"/>
                <a:cs typeface="Arial"/>
              </a:defRPr>
            </a:pPr>
            <a:r>
              <a:rPr sz="1800" b="1">
                <a:solidFill>
                  <a:srgbClr val="222222"/>
                </a:solidFill>
                <a:latin typeface="Arial"/>
                <a:ea typeface="Arial"/>
                <a:cs typeface="Arial"/>
              </a:rPr>
              <a:t>Ruta de demo</a:t>
            </a:r>
          </a:p>
        </p:txBody>
      </p:sp>
      <p:sp>
        <p:nvSpPr>
          <p:cNvPr id="8" name="">
            <a:extLst xmlns:a="http://schemas.openxmlformats.org/drawingml/2006/main">
              <a:ext uri="{FF2B5EF4-FFF2-40B4-BE49-F238E27FC236}">
                <a16:creationId xmlns:a16="http://schemas.microsoft.com/office/drawing/2014/main" id="{63FA4CEF-B8DB-40FE-8489-F2D7B8B738AF}"/>
              </a:ext>
            </a:extLst>
          </p:cNvPr>
          <p:cNvSpPr>
            <a:spLocks xmlns:a="http://schemas.openxmlformats.org/drawingml/2006/main" noGrp="1"/>
          </p:cNvSpPr>
          <p:nvPr/>
        </p:nvSpPr>
        <p:spPr>
          <a:xfrm xmlns:a="http://schemas.openxmlformats.org/drawingml/2006/main">
            <a:off x="8743950" y="2209800"/>
            <a:ext cx="2476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8600" indent="-127000" algn="l">
              <a:buChar char="•"/>
              <a:defRPr sz="1500" b="0">
                <a:solidFill>
                  <a:srgbClr val="222222"/>
                </a:solidFill>
                <a:latin typeface="Arial"/>
                <a:ea typeface="Arial"/>
                <a:cs typeface="Arial"/>
              </a:defRPr>
            </a:pPr>
            <a:r>
              <a:rPr sz="1500" b="0">
                <a:solidFill>
                  <a:srgbClr val="222222"/>
                </a:solidFill>
                <a:latin typeface="Arial"/>
                <a:ea typeface="Arial"/>
                <a:cs typeface="Arial"/>
              </a:rPr>
              <a:t>Filtrar por ciudad</a:t>
            </a:r>
          </a:p>
          <a:p xmlns:a="http://schemas.openxmlformats.org/drawingml/2006/main">
            <a:pPr marL="228600" indent="-127000" algn="l">
              <a:buChar char="•"/>
              <a:defRPr sz="1500" b="0">
                <a:solidFill>
                  <a:srgbClr val="222222"/>
                </a:solidFill>
                <a:latin typeface="Arial"/>
                <a:ea typeface="Arial"/>
                <a:cs typeface="Arial"/>
              </a:defRPr>
            </a:pPr>
            <a:r>
              <a:rPr sz="1500" b="0">
                <a:solidFill>
                  <a:srgbClr val="222222"/>
                </a:solidFill>
                <a:latin typeface="Arial"/>
                <a:ea typeface="Arial"/>
                <a:cs typeface="Arial"/>
              </a:rPr>
              <a:t>Revisar segmentos</a:t>
            </a:r>
          </a:p>
          <a:p xmlns:a="http://schemas.openxmlformats.org/drawingml/2006/main">
            <a:pPr marL="228600" indent="-127000" algn="l">
              <a:buChar char="•"/>
              <a:defRPr sz="1500" b="0">
                <a:solidFill>
                  <a:srgbClr val="222222"/>
                </a:solidFill>
                <a:latin typeface="Arial"/>
                <a:ea typeface="Arial"/>
                <a:cs typeface="Arial"/>
              </a:defRPr>
            </a:pPr>
            <a:r>
              <a:rPr sz="1500" b="0">
                <a:solidFill>
                  <a:srgbClr val="222222"/>
                </a:solidFill>
                <a:latin typeface="Arial"/>
                <a:ea typeface="Arial"/>
                <a:cs typeface="Arial"/>
              </a:rPr>
              <a:t>Abrir calidad</a:t>
            </a:r>
          </a:p>
          <a:p xmlns:a="http://schemas.openxmlformats.org/drawingml/2006/main">
            <a:pPr marL="228600" indent="-127000" algn="l">
              <a:buChar char="•"/>
              <a:defRPr sz="1500" b="0">
                <a:solidFill>
                  <a:srgbClr val="222222"/>
                </a:solidFill>
                <a:latin typeface="Arial"/>
                <a:ea typeface="Arial"/>
                <a:cs typeface="Arial"/>
              </a:defRPr>
            </a:pPr>
            <a:r>
              <a:rPr sz="1500" b="0">
                <a:solidFill>
                  <a:srgbClr val="222222"/>
                </a:solidFill>
                <a:latin typeface="Arial"/>
                <a:ea typeface="Arial"/>
                <a:cs typeface="Arial"/>
              </a:rPr>
              <a:t>Probar filtro vacío</a:t>
            </a:r>
          </a:p>
        </p:txBody>
      </p:sp>
      <p:sp>
        <p:nvSpPr>
          <p:cNvPr id="9" name="">
            <a:extLst xmlns:a="http://schemas.openxmlformats.org/drawingml/2006/main">
              <a:ext uri="{FF2B5EF4-FFF2-40B4-BE49-F238E27FC236}">
                <a16:creationId xmlns:a16="http://schemas.microsoft.com/office/drawing/2014/main" id="{82247118-7D98-4193-943D-F76A59B24E41}"/>
              </a:ext>
            </a:extLst>
          </p:cNvPr>
          <p:cNvSpPr>
            <a:spLocks xmlns:a="http://schemas.openxmlformats.org/drawingml/2006/main" noGrp="1"/>
          </p:cNvSpPr>
          <p:nvPr/>
        </p:nvSpPr>
        <p:spPr>
          <a:xfrm xmlns:a="http://schemas.openxmlformats.org/drawingml/2006/main">
            <a:off x="8572500" y="4267200"/>
            <a:ext cx="2838450" cy="1181100"/>
          </a:xfrm>
          <a:prstGeom xmlns:a="http://schemas.openxmlformats.org/drawingml/2006/main" prst="roundRect">
            <a:avLst>
              <a:gd name="adj" fmla="val 14516"/>
            </a:avLst>
          </a:prstGeom>
          <a:solidFill xmlns:a="http://schemas.openxmlformats.org/drawingml/2006/main">
            <a:srgbClr val="FFF7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D1030B3-B3FC-4519-B7E4-D9C553FB7035}"/>
              </a:ext>
            </a:extLst>
          </p:cNvPr>
          <p:cNvSpPr>
            <a:spLocks xmlns:a="http://schemas.openxmlformats.org/drawingml/2006/main" noGrp="1"/>
          </p:cNvSpPr>
          <p:nvPr/>
        </p:nvSpPr>
        <p:spPr>
          <a:xfrm xmlns:a="http://schemas.openxmlformats.org/drawingml/2006/main">
            <a:off x="8782050" y="4476750"/>
            <a:ext cx="2419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385C"/>
                </a:solidFill>
                <a:latin typeface="Arial"/>
                <a:ea typeface="Arial"/>
                <a:cs typeface="Arial"/>
              </a:defRPr>
            </a:pPr>
            <a:r>
              <a:rPr sz="1350" b="1">
                <a:solidFill>
                  <a:srgbClr val="FF385C"/>
                </a:solidFill>
                <a:latin typeface="Arial"/>
                <a:ea typeface="Arial"/>
                <a:cs typeface="Arial"/>
              </a:rPr>
              <a:t>Dash + Docker + Render</a:t>
            </a:r>
          </a:p>
        </p:txBody>
      </p:sp>
      <p:sp>
        <p:nvSpPr>
          <p:cNvPr id="11" name="">
            <a:extLst xmlns:a="http://schemas.openxmlformats.org/drawingml/2006/main">
              <a:ext uri="{FF2B5EF4-FFF2-40B4-BE49-F238E27FC236}">
                <a16:creationId xmlns:a16="http://schemas.microsoft.com/office/drawing/2014/main" id="{2E7F37A0-9D44-43F1-BAC3-5D5BFFAF5E0F}"/>
              </a:ext>
            </a:extLst>
          </p:cNvPr>
          <p:cNvSpPr>
            <a:spLocks xmlns:a="http://schemas.openxmlformats.org/drawingml/2006/main" noGrp="1"/>
          </p:cNvSpPr>
          <p:nvPr/>
        </p:nvSpPr>
        <p:spPr>
          <a:xfrm xmlns:a="http://schemas.openxmlformats.org/drawingml/2006/main">
            <a:off x="8782050" y="4895850"/>
            <a:ext cx="2419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222222"/>
                </a:solidFill>
                <a:latin typeface="Arial"/>
                <a:ea typeface="Arial"/>
                <a:cs typeface="Arial"/>
              </a:defRPr>
            </a:pPr>
            <a:r>
              <a:rPr sz="1125" b="0">
                <a:solidFill>
                  <a:srgbClr val="222222"/>
                </a:solidFill>
                <a:latin typeface="Arial"/>
                <a:ea typeface="Arial"/>
                <a:cs typeface="Arial"/>
                <a:hlinkClick xmlns:r="http://schemas.openxmlformats.org/officeDocument/2006/relationships" r:id="R97dbc3b072e94753"/>
              </a:rPr>
              <a:t>project8-airbnb-dashboard</a:t>
            </a:r>
          </a:p>
          <a:p xmlns:a="http://schemas.openxmlformats.org/drawingml/2006/main">
            <a:pPr algn="l">
              <a:defRPr sz="1125" b="0">
                <a:solidFill>
                  <a:srgbClr val="222222"/>
                </a:solidFill>
                <a:latin typeface="Arial"/>
                <a:ea typeface="Arial"/>
                <a:cs typeface="Arial"/>
              </a:defRPr>
            </a:pPr>
            <a:r>
              <a:rPr sz="1125" b="0">
                <a:solidFill>
                  <a:srgbClr val="222222"/>
                </a:solidFill>
                <a:latin typeface="Arial"/>
                <a:ea typeface="Arial"/>
                <a:cs typeface="Arial"/>
              </a:rPr>
              <a:t>.onrender.com</a:t>
            </a:r>
          </a:p>
        </p:txBody>
      </p:sp>
    </p:spTree>
    <p:extLst>
      <p:ext uri="{BB962C8B-B14F-4D97-AF65-F5344CB8AC3E}">
        <p14:creationId xmlns:p14="http://schemas.microsoft.com/office/powerpoint/2010/main" val="12132118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2759DE-2F3A-42DE-B424-26FC95003353}"/>
              </a:ext>
            </a:extLst>
          </p:cNvPr>
          <p:cNvSpPr>
            <a:spLocks xmlns:a="http://schemas.openxmlformats.org/drawingml/2006/main" noGrp="1"/>
          </p:cNvSpPr>
          <p:nvPr/>
        </p:nvSpPr>
        <p:spPr>
          <a:xfrm xmlns:a="http://schemas.openxmlformats.org/drawingml/2006/main">
            <a:off x="609600" y="304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385C"/>
                </a:solidFill>
                <a:latin typeface="Arial"/>
                <a:ea typeface="Arial"/>
                <a:cs typeface="Arial"/>
              </a:defRPr>
            </a:pPr>
            <a:r>
              <a:rPr sz="975" b="1">
                <a:solidFill>
                  <a:srgbClr val="FF385C"/>
                </a:solidFill>
                <a:latin typeface="Arial"/>
                <a:ea typeface="Arial"/>
                <a:cs typeface="Arial"/>
              </a:rPr>
              <a:t>CONCLUSIÓN</a:t>
            </a:r>
          </a:p>
        </p:txBody>
      </p:sp>
      <p:sp>
        <p:nvSpPr>
          <p:cNvPr id="2" name="">
            <a:extLst xmlns:a="http://schemas.openxmlformats.org/drawingml/2006/main">
              <a:ext uri="{FF2B5EF4-FFF2-40B4-BE49-F238E27FC236}">
                <a16:creationId xmlns:a16="http://schemas.microsoft.com/office/drawing/2014/main" id="{C29C4204-ED9F-4932-8149-99B021EE7DD2}"/>
              </a:ext>
            </a:extLst>
          </p:cNvPr>
          <p:cNvSpPr>
            <a:spLocks xmlns:a="http://schemas.openxmlformats.org/drawingml/2006/main" noGrp="1"/>
          </p:cNvSpPr>
          <p:nvPr/>
        </p:nvSpPr>
        <p:spPr>
          <a:xfrm xmlns:a="http://schemas.openxmlformats.org/drawingml/2006/main">
            <a:off x="609600" y="5905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222222"/>
                </a:solidFill>
                <a:latin typeface="Arial"/>
                <a:ea typeface="Arial"/>
                <a:cs typeface="Arial"/>
              </a:defRPr>
            </a:pPr>
            <a:r>
              <a:rPr sz="2700" b="1">
                <a:solidFill>
                  <a:srgbClr val="222222"/>
                </a:solidFill>
                <a:latin typeface="Arial"/>
                <a:ea typeface="Arial"/>
                <a:cs typeface="Arial"/>
              </a:rPr>
              <a:t>El proyecto ya orienta prioridades, pero todavía no mide negocio</a:t>
            </a:r>
          </a:p>
        </p:txBody>
      </p:sp>
      <p:sp>
        <p:nvSpPr>
          <p:cNvPr id="3" name="">
            <a:extLst xmlns:a="http://schemas.openxmlformats.org/drawingml/2006/main">
              <a:ext uri="{FF2B5EF4-FFF2-40B4-BE49-F238E27FC236}">
                <a16:creationId xmlns:a16="http://schemas.microsoft.com/office/drawing/2014/main" id="{812FA4A2-2C57-469C-9126-8F1446825AAC}"/>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E6E6E6"/>
            </a:solidFill>
            <a:prstDash val="solid"/>
          </a:ln>
        </p:spPr>
      </p:sp>
      <p:sp>
        <p:nvSpPr>
          <p:cNvPr id="4" name="">
            <a:extLst xmlns:a="http://schemas.openxmlformats.org/drawingml/2006/main">
              <a:ext uri="{FF2B5EF4-FFF2-40B4-BE49-F238E27FC236}">
                <a16:creationId xmlns:a16="http://schemas.microsoft.com/office/drawing/2014/main" id="{DE5FA43D-30F6-48D4-8492-FCA943CC1F01}"/>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A6A6A"/>
                </a:solidFill>
                <a:latin typeface="Arial"/>
                <a:ea typeface="Arial"/>
                <a:cs typeface="Arial"/>
              </a:defRPr>
            </a:pPr>
            <a:r>
              <a:rPr sz="825" b="0">
                <a:solidFill>
                  <a:srgbClr val="6A6A6A"/>
                </a:solidFill>
                <a:latin typeface="Arial"/>
                <a:ea typeface="Arial"/>
                <a:cs typeface="Arial"/>
              </a:rPr>
              <a:t>Proyecto educativo independiente · Datos de seis ciudades</a:t>
            </a:r>
          </a:p>
        </p:txBody>
      </p:sp>
      <p:sp>
        <p:nvSpPr>
          <p:cNvPr id="5" name="">
            <a:extLst xmlns:a="http://schemas.openxmlformats.org/drawingml/2006/main">
              <a:ext uri="{FF2B5EF4-FFF2-40B4-BE49-F238E27FC236}">
                <a16:creationId xmlns:a16="http://schemas.microsoft.com/office/drawing/2014/main" id="{DCADB0FB-CC56-4DD6-86DA-5DDAAEA11CC2}"/>
              </a:ext>
            </a:extLst>
          </p:cNvPr>
          <p:cNvSpPr>
            <a:spLocks xmlns:a="http://schemas.openxmlformats.org/drawingml/2006/main" noGrp="1"/>
          </p:cNvSpPr>
          <p:nvPr/>
        </p:nvSpPr>
        <p:spPr>
          <a:xfrm xmlns:a="http://schemas.openxmlformats.org/drawingml/2006/main">
            <a:off x="11125200" y="65151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6A6A6A"/>
                </a:solidFill>
                <a:latin typeface="Arial"/>
                <a:ea typeface="Arial"/>
                <a:cs typeface="Arial"/>
              </a:defRPr>
            </a:pPr>
            <a:r>
              <a:rPr sz="825" b="0">
                <a:solidFill>
                  <a:srgbClr val="6A6A6A"/>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BE3F427F-1AD8-4E0E-9D0E-A3B2F7E83174}"/>
              </a:ext>
            </a:extLst>
          </p:cNvPr>
          <p:cNvSpPr>
            <a:spLocks xmlns:a="http://schemas.openxmlformats.org/drawingml/2006/main" noGrp="1"/>
          </p:cNvSpPr>
          <p:nvPr/>
        </p:nvSpPr>
        <p:spPr>
          <a:xfrm xmlns:a="http://schemas.openxmlformats.org/drawingml/2006/main">
            <a:off x="666750" y="1657350"/>
            <a:ext cx="5095875" cy="3333750"/>
          </a:xfrm>
          <a:prstGeom xmlns:a="http://schemas.openxmlformats.org/drawingml/2006/main" prst="roundRect">
            <a:avLst>
              <a:gd name="adj" fmla="val 6286"/>
            </a:avLst>
          </a:prstGeom>
          <a:solidFill xmlns:a="http://schemas.openxmlformats.org/drawingml/2006/main">
            <a:srgbClr val="F4FB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D99B130-A19A-4B06-A73F-0EAA2EF6E8D5}"/>
              </a:ext>
            </a:extLst>
          </p:cNvPr>
          <p:cNvSpPr>
            <a:spLocks xmlns:a="http://schemas.openxmlformats.org/drawingml/2006/main" noGrp="1"/>
          </p:cNvSpPr>
          <p:nvPr/>
        </p:nvSpPr>
        <p:spPr>
          <a:xfrm xmlns:a="http://schemas.openxmlformats.org/drawingml/2006/main">
            <a:off x="952500" y="194310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00A699"/>
                </a:solidFill>
                <a:latin typeface="Arial"/>
                <a:ea typeface="Arial"/>
                <a:cs typeface="Arial"/>
              </a:defRPr>
            </a:pPr>
            <a:r>
              <a:rPr sz="1875" b="1">
                <a:solidFill>
                  <a:srgbClr val="00A699"/>
                </a:solidFill>
                <a:latin typeface="Arial"/>
                <a:ea typeface="Arial"/>
                <a:cs typeface="Arial"/>
              </a:rPr>
              <a:t>Decisiones que sí respalda</a:t>
            </a:r>
          </a:p>
        </p:txBody>
      </p:sp>
      <p:sp>
        <p:nvSpPr>
          <p:cNvPr id="8" name="">
            <a:extLst xmlns:a="http://schemas.openxmlformats.org/drawingml/2006/main">
              <a:ext uri="{FF2B5EF4-FFF2-40B4-BE49-F238E27FC236}">
                <a16:creationId xmlns:a16="http://schemas.microsoft.com/office/drawing/2014/main" id="{5B502768-DB86-442D-8895-B872425E67D5}"/>
              </a:ext>
            </a:extLst>
          </p:cNvPr>
          <p:cNvSpPr>
            <a:spLocks xmlns:a="http://schemas.openxmlformats.org/drawingml/2006/main" noGrp="1"/>
          </p:cNvSpPr>
          <p:nvPr/>
        </p:nvSpPr>
        <p:spPr>
          <a:xfrm xmlns:a="http://schemas.openxmlformats.org/drawingml/2006/main">
            <a:off x="952500" y="2571750"/>
            <a:ext cx="4286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8600" indent="-127000" algn="l">
              <a:buChar char="•"/>
              <a:defRPr sz="1575" b="0">
                <a:solidFill>
                  <a:srgbClr val="222222"/>
                </a:solidFill>
                <a:latin typeface="Arial"/>
                <a:ea typeface="Arial"/>
                <a:cs typeface="Arial"/>
              </a:defRPr>
            </a:pPr>
            <a:r>
              <a:rPr sz="1575" b="0">
                <a:solidFill>
                  <a:srgbClr val="222222"/>
                </a:solidFill>
                <a:latin typeface="Arial"/>
                <a:ea typeface="Arial"/>
                <a:cs typeface="Arial"/>
              </a:rPr>
              <a:t>Priorizar segmentos para investigación</a:t>
            </a:r>
          </a:p>
          <a:p xmlns:a="http://schemas.openxmlformats.org/drawingml/2006/main">
            <a:pPr marL="228600" indent="-127000" algn="l">
              <a:buChar char="•"/>
              <a:defRPr sz="1575" b="0">
                <a:solidFill>
                  <a:srgbClr val="222222"/>
                </a:solidFill>
                <a:latin typeface="Arial"/>
                <a:ea typeface="Arial"/>
                <a:cs typeface="Arial"/>
              </a:defRPr>
            </a:pPr>
            <a:r>
              <a:rPr sz="1575" b="0">
                <a:solidFill>
                  <a:srgbClr val="222222"/>
                </a:solidFill>
                <a:latin typeface="Arial"/>
                <a:ea typeface="Arial"/>
                <a:cs typeface="Arial"/>
              </a:rPr>
              <a:t>Revisar registros sospechosos</a:t>
            </a:r>
          </a:p>
          <a:p xmlns:a="http://schemas.openxmlformats.org/drawingml/2006/main">
            <a:pPr marL="228600" indent="-127000" algn="l">
              <a:buChar char="•"/>
              <a:defRPr sz="1575" b="0">
                <a:solidFill>
                  <a:srgbClr val="222222"/>
                </a:solidFill>
                <a:latin typeface="Arial"/>
                <a:ea typeface="Arial"/>
                <a:cs typeface="Arial"/>
              </a:defRPr>
            </a:pPr>
            <a:r>
              <a:rPr sz="1575" b="0">
                <a:solidFill>
                  <a:srgbClr val="222222"/>
                </a:solidFill>
                <a:latin typeface="Arial"/>
                <a:ea typeface="Arial"/>
                <a:cs typeface="Arial"/>
              </a:rPr>
              <a:t>Contrastar la política de estancia mínima</a:t>
            </a:r>
          </a:p>
        </p:txBody>
      </p:sp>
      <p:sp>
        <p:nvSpPr>
          <p:cNvPr id="9" name="">
            <a:extLst xmlns:a="http://schemas.openxmlformats.org/drawingml/2006/main">
              <a:ext uri="{FF2B5EF4-FFF2-40B4-BE49-F238E27FC236}">
                <a16:creationId xmlns:a16="http://schemas.microsoft.com/office/drawing/2014/main" id="{E34B65C3-9DF9-4E2D-BC66-D3E19AA9B726}"/>
              </a:ext>
            </a:extLst>
          </p:cNvPr>
          <p:cNvSpPr>
            <a:spLocks xmlns:a="http://schemas.openxmlformats.org/drawingml/2006/main" noGrp="1"/>
          </p:cNvSpPr>
          <p:nvPr/>
        </p:nvSpPr>
        <p:spPr>
          <a:xfrm xmlns:a="http://schemas.openxmlformats.org/drawingml/2006/main">
            <a:off x="6429375" y="1657350"/>
            <a:ext cx="5095875" cy="3333750"/>
          </a:xfrm>
          <a:prstGeom xmlns:a="http://schemas.openxmlformats.org/drawingml/2006/main" prst="roundRect">
            <a:avLst>
              <a:gd name="adj" fmla="val 6286"/>
            </a:avLst>
          </a:prstGeom>
          <a:solidFill xmlns:a="http://schemas.openxmlformats.org/drawingml/2006/main">
            <a:srgbClr val="FFF7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2475835-1DCA-409D-8B9B-A1725F865F95}"/>
              </a:ext>
            </a:extLst>
          </p:cNvPr>
          <p:cNvSpPr>
            <a:spLocks xmlns:a="http://schemas.openxmlformats.org/drawingml/2006/main" noGrp="1"/>
          </p:cNvSpPr>
          <p:nvPr/>
        </p:nvSpPr>
        <p:spPr>
          <a:xfrm xmlns:a="http://schemas.openxmlformats.org/drawingml/2006/main">
            <a:off x="6715125" y="194310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385C"/>
                </a:solidFill>
                <a:latin typeface="Arial"/>
                <a:ea typeface="Arial"/>
                <a:cs typeface="Arial"/>
              </a:defRPr>
            </a:pPr>
            <a:r>
              <a:rPr sz="1875" b="1">
                <a:solidFill>
                  <a:srgbClr val="FF385C"/>
                </a:solidFill>
                <a:latin typeface="Arial"/>
                <a:ea typeface="Arial"/>
                <a:cs typeface="Arial"/>
              </a:rPr>
              <a:t>Datos necesarios para avanzar</a:t>
            </a:r>
          </a:p>
        </p:txBody>
      </p:sp>
      <p:sp>
        <p:nvSpPr>
          <p:cNvPr id="11" name="">
            <a:extLst xmlns:a="http://schemas.openxmlformats.org/drawingml/2006/main">
              <a:ext uri="{FF2B5EF4-FFF2-40B4-BE49-F238E27FC236}">
                <a16:creationId xmlns:a16="http://schemas.microsoft.com/office/drawing/2014/main" id="{9A0BE13C-F466-4136-B16E-03A56B6EDCFD}"/>
              </a:ext>
            </a:extLst>
          </p:cNvPr>
          <p:cNvSpPr>
            <a:spLocks xmlns:a="http://schemas.openxmlformats.org/drawingml/2006/main" noGrp="1"/>
          </p:cNvSpPr>
          <p:nvPr/>
        </p:nvSpPr>
        <p:spPr>
          <a:xfrm xmlns:a="http://schemas.openxmlformats.org/drawingml/2006/main">
            <a:off x="6715125" y="2571750"/>
            <a:ext cx="4286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8600" indent="-127000" algn="l">
              <a:buChar char="•"/>
              <a:defRPr sz="1575" b="0">
                <a:solidFill>
                  <a:srgbClr val="222222"/>
                </a:solidFill>
                <a:latin typeface="Arial"/>
                <a:ea typeface="Arial"/>
                <a:cs typeface="Arial"/>
              </a:defRPr>
            </a:pPr>
            <a:r>
              <a:rPr sz="1575" b="0">
                <a:solidFill>
                  <a:srgbClr val="222222"/>
                </a:solidFill>
                <a:latin typeface="Arial"/>
                <a:ea typeface="Arial"/>
                <a:cs typeface="Arial"/>
              </a:rPr>
              <a:t>Reservas, ocupación e ingresos</a:t>
            </a:r>
          </a:p>
          <a:p xmlns:a="http://schemas.openxmlformats.org/drawingml/2006/main">
            <a:pPr marL="228600" indent="-127000" algn="l">
              <a:buChar char="•"/>
              <a:defRPr sz="1575" b="0">
                <a:solidFill>
                  <a:srgbClr val="222222"/>
                </a:solidFill>
                <a:latin typeface="Arial"/>
                <a:ea typeface="Arial"/>
                <a:cs typeface="Arial"/>
              </a:defRPr>
            </a:pPr>
            <a:r>
              <a:rPr sz="1575" b="0">
                <a:solidFill>
                  <a:srgbClr val="222222"/>
                </a:solidFill>
                <a:latin typeface="Arial"/>
                <a:ea typeface="Arial"/>
                <a:cs typeface="Arial"/>
              </a:rPr>
              <a:t>Moneda y fecha de extracción</a:t>
            </a:r>
          </a:p>
          <a:p xmlns:a="http://schemas.openxmlformats.org/drawingml/2006/main">
            <a:pPr marL="228600" indent="-127000" algn="l">
              <a:buChar char="•"/>
              <a:defRPr sz="1575" b="0">
                <a:solidFill>
                  <a:srgbClr val="222222"/>
                </a:solidFill>
                <a:latin typeface="Arial"/>
                <a:ea typeface="Arial"/>
                <a:cs typeface="Arial"/>
              </a:defRPr>
            </a:pPr>
            <a:r>
              <a:rPr sz="1575" b="0">
                <a:solidFill>
                  <a:srgbClr val="222222"/>
                </a:solidFill>
                <a:latin typeface="Arial"/>
                <a:ea typeface="Arial"/>
                <a:cs typeface="Arial"/>
              </a:rPr>
              <a:t>Histórico, costes y valoraciones</a:t>
            </a:r>
          </a:p>
        </p:txBody>
      </p:sp>
      <p:sp>
        <p:nvSpPr>
          <p:cNvPr id="12" name="">
            <a:extLst xmlns:a="http://schemas.openxmlformats.org/drawingml/2006/main">
              <a:ext uri="{FF2B5EF4-FFF2-40B4-BE49-F238E27FC236}">
                <a16:creationId xmlns:a16="http://schemas.microsoft.com/office/drawing/2014/main" id="{B2D313C6-D9DC-4D6D-814F-D51EFFC84CB9}"/>
              </a:ext>
            </a:extLst>
          </p:cNvPr>
          <p:cNvSpPr>
            <a:spLocks xmlns:a="http://schemas.openxmlformats.org/drawingml/2006/main" noGrp="1"/>
          </p:cNvSpPr>
          <p:nvPr/>
        </p:nvSpPr>
        <p:spPr>
          <a:xfrm xmlns:a="http://schemas.openxmlformats.org/drawingml/2006/main">
            <a:off x="666750" y="5448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22222"/>
                </a:solidFill>
                <a:latin typeface="Arial"/>
                <a:ea typeface="Arial"/>
                <a:cs typeface="Arial"/>
              </a:defRPr>
            </a:pPr>
            <a:r>
              <a:rPr sz="1350" b="1">
                <a:solidFill>
                  <a:srgbClr val="222222"/>
                </a:solidFill>
                <a:latin typeface="Arial"/>
                <a:ea typeface="Arial"/>
                <a:cs typeface="Arial"/>
              </a:rPr>
              <a:t>Ampliaciones propuestas</a:t>
            </a:r>
          </a:p>
        </p:txBody>
      </p:sp>
      <p:sp>
        <p:nvSpPr>
          <p:cNvPr id="13" name="">
            <a:extLst xmlns:a="http://schemas.openxmlformats.org/drawingml/2006/main">
              <a:ext uri="{FF2B5EF4-FFF2-40B4-BE49-F238E27FC236}">
                <a16:creationId xmlns:a16="http://schemas.microsoft.com/office/drawing/2014/main" id="{68910044-5B46-49BC-A316-BA7E1CF77E38}"/>
              </a:ext>
            </a:extLst>
          </p:cNvPr>
          <p:cNvSpPr>
            <a:spLocks xmlns:a="http://schemas.openxmlformats.org/drawingml/2006/main" noGrp="1"/>
          </p:cNvSpPr>
          <p:nvPr/>
        </p:nvSpPr>
        <p:spPr>
          <a:xfrm xmlns:a="http://schemas.openxmlformats.org/drawingml/2006/main">
            <a:off x="3543300" y="5429250"/>
            <a:ext cx="798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385C"/>
                </a:solidFill>
                <a:latin typeface="Arial"/>
                <a:ea typeface="Arial"/>
                <a:cs typeface="Arial"/>
              </a:defRPr>
            </a:pPr>
            <a:r>
              <a:rPr sz="1500" b="1">
                <a:solidFill>
                  <a:srgbClr val="FF385C"/>
                </a:solidFill>
                <a:latin typeface="Arial"/>
                <a:ea typeface="Arial"/>
                <a:cs typeface="Arial"/>
              </a:rPr>
              <a:t>#24 baseline de ML · #25 clustering · #26 datos externos</a:t>
            </a:r>
          </a:p>
        </p:txBody>
      </p:sp>
      <p:sp>
        <p:nvSpPr>
          <p:cNvPr id="14" name="">
            <a:extLst xmlns:a="http://schemas.openxmlformats.org/drawingml/2006/main">
              <a:ext uri="{FF2B5EF4-FFF2-40B4-BE49-F238E27FC236}">
                <a16:creationId xmlns:a16="http://schemas.microsoft.com/office/drawing/2014/main" id="{FDFC8CEE-D44C-46A3-99EB-201BF7FB2F41}"/>
              </a:ext>
            </a:extLst>
          </p:cNvPr>
          <p:cNvSpPr>
            <a:spLocks xmlns:a="http://schemas.openxmlformats.org/drawingml/2006/main" noGrp="1"/>
          </p:cNvSpPr>
          <p:nvPr/>
        </p:nvSpPr>
        <p:spPr>
          <a:xfrm xmlns:a="http://schemas.openxmlformats.org/drawingml/2006/main">
            <a:off x="666750" y="59436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22222"/>
                </a:solidFill>
                <a:latin typeface="Arial"/>
                <a:ea typeface="Arial"/>
                <a:cs typeface="Arial"/>
              </a:defRPr>
            </a:pPr>
            <a:r>
              <a:rPr sz="1650" b="1">
                <a:solidFill>
                  <a:srgbClr val="222222"/>
                </a:solidFill>
                <a:latin typeface="Arial"/>
                <a:ea typeface="Arial"/>
                <a:cs typeface="Arial"/>
              </a:rPr>
              <a:t>Resultado actual: diagnóstico reproducible y defendible para decidir qué investigar primero.</a:t>
            </a:r>
          </a:p>
        </p:txBody>
      </p:sp>
    </p:spTree>
    <p:extLst>
      <p:ext uri="{BB962C8B-B14F-4D97-AF65-F5344CB8AC3E}">
        <p14:creationId xmlns:p14="http://schemas.microsoft.com/office/powerpoint/2010/main" val="12533417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2026-09-08T14:02:32.3710000Z</dcterms:created>
  <dcterms:modified xsi:type="dcterms:W3CDTF">2026-09-08T14:02:32.3710000Z</dcterms:modified>
</coreProperties>
</file>